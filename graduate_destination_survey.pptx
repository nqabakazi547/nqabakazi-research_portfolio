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webextensions/webextension1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95" r:id="rId5"/>
    <p:sldMasterId id="2147483697" r:id="rId6"/>
  </p:sldMasterIdLst>
  <p:notesMasterIdLst>
    <p:notesMasterId r:id="rId25"/>
  </p:notesMasterIdLst>
  <p:sldIdLst>
    <p:sldId id="293" r:id="rId7"/>
    <p:sldId id="399" r:id="rId8"/>
    <p:sldId id="432" r:id="rId9"/>
    <p:sldId id="433" r:id="rId10"/>
    <p:sldId id="413" r:id="rId11"/>
    <p:sldId id="408" r:id="rId12"/>
    <p:sldId id="417" r:id="rId13"/>
    <p:sldId id="415" r:id="rId14"/>
    <p:sldId id="434" r:id="rId15"/>
    <p:sldId id="405" r:id="rId16"/>
    <p:sldId id="418" r:id="rId17"/>
    <p:sldId id="419" r:id="rId18"/>
    <p:sldId id="414" r:id="rId19"/>
    <p:sldId id="411" r:id="rId20"/>
    <p:sldId id="431" r:id="rId21"/>
    <p:sldId id="428" r:id="rId22"/>
    <p:sldId id="429" r:id="rId23"/>
    <p:sldId id="317" r:id="rId24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F027B4-BB69-4BC2-F550-E8CF28981F06}" name="Thomas Farrar" initials="TF" userId="S::FARRART@cput.ac.za::f5ab168c-665c-4b60-824f-1b8b261b862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7B"/>
    <a:srgbClr val="004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FBF2C-FD09-443C-8CA7-2D277B4A2184}" v="13" dt="2026-08-21T07:34:41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03" autoAdjust="0"/>
    <p:restoredTop sz="94404" autoAdjust="0"/>
  </p:normalViewPr>
  <p:slideViewPr>
    <p:cSldViewPr snapToGrid="0" snapToObjects="1" showGuides="1">
      <p:cViewPr varScale="1">
        <p:scale>
          <a:sx n="94" d="100"/>
          <a:sy n="94" d="100"/>
        </p:scale>
        <p:origin x="1478" y="77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-1747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qabakazi Dyantyi" userId="f233b9ec-bd7a-41a3-83ca-673d885a7ded" providerId="ADAL" clId="{0ACB28E6-8DF6-4413-9DB1-10216E268734}"/>
    <pc:docChg chg="modSld delMainMaster">
      <pc:chgData name="Nqabakazi Dyantyi" userId="f233b9ec-bd7a-41a3-83ca-673d885a7ded" providerId="ADAL" clId="{0ACB28E6-8DF6-4413-9DB1-10216E268734}" dt="2026-08-21T07:34:41.668" v="13" actId="20577"/>
      <pc:docMkLst>
        <pc:docMk/>
      </pc:docMkLst>
      <pc:sldChg chg="modSp">
        <pc:chgData name="Nqabakazi Dyantyi" userId="f233b9ec-bd7a-41a3-83ca-673d885a7ded" providerId="ADAL" clId="{0ACB28E6-8DF6-4413-9DB1-10216E268734}" dt="2026-08-21T07:34:41.668" v="13" actId="20577"/>
        <pc:sldMkLst>
          <pc:docMk/>
          <pc:sldMk cId="4050893963" sldId="293"/>
        </pc:sldMkLst>
        <pc:spChg chg="mod">
          <ac:chgData name="Nqabakazi Dyantyi" userId="f233b9ec-bd7a-41a3-83ca-673d885a7ded" providerId="ADAL" clId="{0ACB28E6-8DF6-4413-9DB1-10216E268734}" dt="2026-08-21T07:34:41.668" v="13" actId="20577"/>
          <ac:spMkLst>
            <pc:docMk/>
            <pc:sldMk cId="4050893963" sldId="293"/>
            <ac:spMk id="3" creationId="{E16953DA-E07A-EF40-2719-4863145BF43C}"/>
          </ac:spMkLst>
        </pc:spChg>
      </pc:sldChg>
      <pc:sldMasterChg chg="del delSldLayout">
        <pc:chgData name="Nqabakazi Dyantyi" userId="f233b9ec-bd7a-41a3-83ca-673d885a7ded" providerId="ADAL" clId="{0ACB28E6-8DF6-4413-9DB1-10216E268734}" dt="2026-08-21T07:34:38.123" v="1"/>
        <pc:sldMasterMkLst>
          <pc:docMk/>
          <pc:sldMasterMk cId="1201551702" sldId="2147483667"/>
        </pc:sldMasterMkLst>
        <pc:sldLayoutChg chg="del">
          <pc:chgData name="Nqabakazi Dyantyi" userId="f233b9ec-bd7a-41a3-83ca-673d885a7ded" providerId="ADAL" clId="{0ACB28E6-8DF6-4413-9DB1-10216E268734}" dt="2026-08-21T07:34:38.123" v="1"/>
          <pc:sldLayoutMkLst>
            <pc:docMk/>
            <pc:sldMasterMk cId="1201551702" sldId="2147483667"/>
            <pc:sldLayoutMk cId="3714815855" sldId="2147483668"/>
          </pc:sldLayoutMkLst>
        </pc:sldLayoutChg>
      </pc:sldMasterChg>
      <pc:sldMasterChg chg="del delSldLayout">
        <pc:chgData name="Nqabakazi Dyantyi" userId="f233b9ec-bd7a-41a3-83ca-673d885a7ded" providerId="ADAL" clId="{0ACB28E6-8DF6-4413-9DB1-10216E268734}" dt="2026-08-21T07:34:38.123" v="1"/>
        <pc:sldMasterMkLst>
          <pc:docMk/>
          <pc:sldMasterMk cId="3043742628" sldId="2147483670"/>
        </pc:sldMasterMkLst>
        <pc:sldLayoutChg chg="del">
          <pc:chgData name="Nqabakazi Dyantyi" userId="f233b9ec-bd7a-41a3-83ca-673d885a7ded" providerId="ADAL" clId="{0ACB28E6-8DF6-4413-9DB1-10216E268734}" dt="2026-08-21T07:34:38.123" v="1"/>
          <pc:sldLayoutMkLst>
            <pc:docMk/>
            <pc:sldMasterMk cId="3043742628" sldId="2147483670"/>
            <pc:sldLayoutMk cId="1180803083" sldId="2147483671"/>
          </pc:sldLayoutMkLst>
        </pc:sldLayoutChg>
      </pc:sldMasterChg>
      <pc:sldMasterChg chg="del delSldLayout">
        <pc:chgData name="Nqabakazi Dyantyi" userId="f233b9ec-bd7a-41a3-83ca-673d885a7ded" providerId="ADAL" clId="{0ACB28E6-8DF6-4413-9DB1-10216E268734}" dt="2026-08-21T07:34:38.123" v="1"/>
        <pc:sldMasterMkLst>
          <pc:docMk/>
          <pc:sldMasterMk cId="2751903465" sldId="2147483688"/>
        </pc:sldMasterMkLst>
        <pc:sldLayoutChg chg="del">
          <pc:chgData name="Nqabakazi Dyantyi" userId="f233b9ec-bd7a-41a3-83ca-673d885a7ded" providerId="ADAL" clId="{0ACB28E6-8DF6-4413-9DB1-10216E268734}" dt="2026-08-21T07:34:38.123" v="1"/>
          <pc:sldLayoutMkLst>
            <pc:docMk/>
            <pc:sldMasterMk cId="2751903465" sldId="2147483688"/>
            <pc:sldLayoutMk cId="414914195" sldId="2147483689"/>
          </pc:sldLayoutMkLst>
        </pc:sldLayoutChg>
      </pc:sldMasterChg>
      <pc:sldMasterChg chg="del delSldLayout">
        <pc:chgData name="Nqabakazi Dyantyi" userId="f233b9ec-bd7a-41a3-83ca-673d885a7ded" providerId="ADAL" clId="{0ACB28E6-8DF6-4413-9DB1-10216E268734}" dt="2026-08-21T07:34:38.123" v="1"/>
        <pc:sldMasterMkLst>
          <pc:docMk/>
          <pc:sldMasterMk cId="1820197394" sldId="2147483691"/>
        </pc:sldMasterMkLst>
        <pc:sldLayoutChg chg="del">
          <pc:chgData name="Nqabakazi Dyantyi" userId="f233b9ec-bd7a-41a3-83ca-673d885a7ded" providerId="ADAL" clId="{0ACB28E6-8DF6-4413-9DB1-10216E268734}" dt="2026-08-21T07:34:38.123" v="1"/>
          <pc:sldLayoutMkLst>
            <pc:docMk/>
            <pc:sldMasterMk cId="1820197394" sldId="2147483691"/>
            <pc:sldLayoutMk cId="112396593" sldId="2147483692"/>
          </pc:sldLayoutMkLst>
        </pc:sldLayoutChg>
      </pc:sldMasterChg>
      <pc:sldMasterChg chg="del delSldLayout">
        <pc:chgData name="Nqabakazi Dyantyi" userId="f233b9ec-bd7a-41a3-83ca-673d885a7ded" providerId="ADAL" clId="{0ACB28E6-8DF6-4413-9DB1-10216E268734}" dt="2026-08-21T07:34:38.123" v="1"/>
        <pc:sldMasterMkLst>
          <pc:docMk/>
          <pc:sldMasterMk cId="812314141" sldId="2147483693"/>
        </pc:sldMasterMkLst>
        <pc:sldLayoutChg chg="del">
          <pc:chgData name="Nqabakazi Dyantyi" userId="f233b9ec-bd7a-41a3-83ca-673d885a7ded" providerId="ADAL" clId="{0ACB28E6-8DF6-4413-9DB1-10216E268734}" dt="2026-08-21T07:34:38.123" v="1"/>
          <pc:sldLayoutMkLst>
            <pc:docMk/>
            <pc:sldMasterMk cId="812314141" sldId="2147483693"/>
            <pc:sldLayoutMk cId="791747896" sldId="2147483694"/>
          </pc:sldLayoutMkLst>
        </pc:sldLayoutChg>
      </pc:sldMasterChg>
      <pc:sldMasterChg chg="del delSldLayout">
        <pc:chgData name="Nqabakazi Dyantyi" userId="f233b9ec-bd7a-41a3-83ca-673d885a7ded" providerId="ADAL" clId="{0ACB28E6-8DF6-4413-9DB1-10216E268734}" dt="2026-08-21T07:34:38.123" v="1"/>
        <pc:sldMasterMkLst>
          <pc:docMk/>
          <pc:sldMasterMk cId="3687933278" sldId="2147483699"/>
        </pc:sldMasterMkLst>
        <pc:sldLayoutChg chg="del">
          <pc:chgData name="Nqabakazi Dyantyi" userId="f233b9ec-bd7a-41a3-83ca-673d885a7ded" providerId="ADAL" clId="{0ACB28E6-8DF6-4413-9DB1-10216E268734}" dt="2026-08-21T07:34:38.123" v="1"/>
          <pc:sldLayoutMkLst>
            <pc:docMk/>
            <pc:sldMasterMk cId="3687933278" sldId="2147483699"/>
            <pc:sldLayoutMk cId="4071548043" sldId="2147483700"/>
          </pc:sldLayoutMkLst>
        </pc:sldLayoutChg>
      </pc:sldMasterChg>
      <pc:sldMasterChg chg="del delSldLayout">
        <pc:chgData name="Nqabakazi Dyantyi" userId="f233b9ec-bd7a-41a3-83ca-673d885a7ded" providerId="ADAL" clId="{0ACB28E6-8DF6-4413-9DB1-10216E268734}" dt="2026-08-21T07:34:38.123" v="1"/>
        <pc:sldMasterMkLst>
          <pc:docMk/>
          <pc:sldMasterMk cId="3274744383" sldId="2147483701"/>
        </pc:sldMasterMkLst>
        <pc:sldLayoutChg chg="del">
          <pc:chgData name="Nqabakazi Dyantyi" userId="f233b9ec-bd7a-41a3-83ca-673d885a7ded" providerId="ADAL" clId="{0ACB28E6-8DF6-4413-9DB1-10216E268734}" dt="2026-08-21T07:34:38.123" v="1"/>
          <pc:sldLayoutMkLst>
            <pc:docMk/>
            <pc:sldMasterMk cId="3274744383" sldId="2147483701"/>
            <pc:sldLayoutMk cId="900480425" sldId="2147483702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https://cputacza-my.sharepoint.com/personal/dyantyinq_cput_ac_za/Documents/GDS_primary_with_visuals_v2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https://cputacza-my.sharepoint.com/personal/dyantyinq_cput_ac_za/Documents/GDS_primary_with_visuals_v2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https://cputacza-my.sharepoint.com/personal/dyantyinq_cput_ac_za/Documents/GDS_primary_with_visuals_v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dirty="0"/>
              <a:t>Job relevance to qualification</a:t>
            </a:r>
          </a:p>
        </c:rich>
      </c:tx>
      <c:overlay val="0"/>
    </c:title>
    <c:autoTitleDeleted val="0"/>
    <c:plotArea>
      <c:layout/>
      <c:pieChart>
        <c:varyColors val="1"/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dirty="0"/>
              <a:t>Job relevance to qualification</a:t>
            </a:r>
          </a:p>
        </c:rich>
      </c:tx>
      <c:overlay val="0"/>
    </c:title>
    <c:autoTitleDeleted val="0"/>
    <c:plotArea>
      <c:layout/>
      <c:pieChart>
        <c:varyColors val="1"/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ZA" dirty="0"/>
              <a:t>Job relevance to qualification</a:t>
            </a:r>
          </a:p>
        </c:rich>
      </c:tx>
      <c:overlay val="0"/>
    </c:title>
    <c:autoTitleDeleted val="0"/>
    <c:plotArea>
      <c:layout/>
      <c:pieChart>
        <c:varyColors val="1"/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8F573-5228-4093-9452-8EB2524BB0B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5AD54D14-545C-4CF3-88D2-F88D3815F580}" type="pres">
      <dgm:prSet presAssocID="{D448F573-5228-4093-9452-8EB2524BB0B3}" presName="Name0" presStyleCnt="0">
        <dgm:presLayoutVars>
          <dgm:dir/>
          <dgm:resizeHandles val="exact"/>
        </dgm:presLayoutVars>
      </dgm:prSet>
      <dgm:spPr/>
    </dgm:pt>
  </dgm:ptLst>
  <dgm:cxnLst>
    <dgm:cxn modelId="{DF807F21-4345-48FE-BE97-0D9B3FAC7638}" type="presOf" srcId="{D448F573-5228-4093-9452-8EB2524BB0B3}" destId="{5AD54D14-545C-4CF3-88D2-F88D3815F580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22FA77-9431-44C7-AA88-2AE3A5A95D1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A4E83148-1905-4009-B1F8-21506E21A2F3}">
      <dgm:prSet/>
      <dgm:spPr/>
      <dgm:t>
        <a:bodyPr/>
        <a:lstStyle/>
        <a:p>
          <a:r>
            <a:rPr lang="en-US" dirty="0"/>
            <a:t>Strengthen Data pipeline(pilot testing)</a:t>
          </a:r>
          <a:endParaRPr lang="en-ZA" dirty="0"/>
        </a:p>
      </dgm:t>
    </dgm:pt>
    <dgm:pt modelId="{E738912A-0955-4A92-BF42-54097ACEDE39}" type="parTrans" cxnId="{00095691-7218-40EE-8749-8A8F6BB3DF9D}">
      <dgm:prSet/>
      <dgm:spPr/>
      <dgm:t>
        <a:bodyPr/>
        <a:lstStyle/>
        <a:p>
          <a:endParaRPr lang="en-ZA"/>
        </a:p>
      </dgm:t>
    </dgm:pt>
    <dgm:pt modelId="{AE6E3EDB-CF96-4D77-B050-299E485E4C0A}" type="sibTrans" cxnId="{00095691-7218-40EE-8749-8A8F6BB3DF9D}">
      <dgm:prSet/>
      <dgm:spPr/>
      <dgm:t>
        <a:bodyPr/>
        <a:lstStyle/>
        <a:p>
          <a:endParaRPr lang="en-ZA" dirty="0"/>
        </a:p>
      </dgm:t>
    </dgm:pt>
    <dgm:pt modelId="{027B9119-BB3E-4C57-851A-3CD6B3983BF5}">
      <dgm:prSet/>
      <dgm:spPr/>
      <dgm:t>
        <a:bodyPr/>
        <a:lstStyle/>
        <a:p>
          <a:r>
            <a:rPr lang="en-US" dirty="0"/>
            <a:t>Improve</a:t>
          </a:r>
          <a:r>
            <a:rPr lang="en-US" baseline="0" dirty="0"/>
            <a:t> survey quality</a:t>
          </a:r>
          <a:endParaRPr lang="en-ZA" dirty="0"/>
        </a:p>
      </dgm:t>
    </dgm:pt>
    <dgm:pt modelId="{8B2CD087-25E0-476C-BFE5-3662F28459F4}" type="parTrans" cxnId="{EBD04A1A-AD60-410C-B3BC-3FBE5F88F9BC}">
      <dgm:prSet/>
      <dgm:spPr/>
      <dgm:t>
        <a:bodyPr/>
        <a:lstStyle/>
        <a:p>
          <a:endParaRPr lang="en-ZA"/>
        </a:p>
      </dgm:t>
    </dgm:pt>
    <dgm:pt modelId="{A540FFF3-1067-43B3-9ADF-6CB1234DBCA6}" type="sibTrans" cxnId="{EBD04A1A-AD60-410C-B3BC-3FBE5F88F9BC}">
      <dgm:prSet/>
      <dgm:spPr/>
      <dgm:t>
        <a:bodyPr/>
        <a:lstStyle/>
        <a:p>
          <a:endParaRPr lang="en-ZA" dirty="0"/>
        </a:p>
      </dgm:t>
    </dgm:pt>
    <dgm:pt modelId="{243A4E3B-B3CC-46D3-8FA9-CCB0301028C7}">
      <dgm:prSet/>
      <dgm:spPr/>
      <dgm:t>
        <a:bodyPr/>
        <a:lstStyle/>
        <a:p>
          <a:r>
            <a:rPr lang="en-US" dirty="0"/>
            <a:t>Enhance reporting capacity (dashboard development)</a:t>
          </a:r>
          <a:endParaRPr lang="en-ZA" dirty="0"/>
        </a:p>
      </dgm:t>
    </dgm:pt>
    <dgm:pt modelId="{52480484-F5FE-4975-A581-83395480B2C0}" type="parTrans" cxnId="{474C4E2B-5116-476C-BD3F-701480B2DA68}">
      <dgm:prSet/>
      <dgm:spPr/>
      <dgm:t>
        <a:bodyPr/>
        <a:lstStyle/>
        <a:p>
          <a:endParaRPr lang="en-ZA"/>
        </a:p>
      </dgm:t>
    </dgm:pt>
    <dgm:pt modelId="{91EDB7E7-F613-4E47-8BD6-44B6309A987D}" type="sibTrans" cxnId="{474C4E2B-5116-476C-BD3F-701480B2DA68}">
      <dgm:prSet/>
      <dgm:spPr/>
      <dgm:t>
        <a:bodyPr/>
        <a:lstStyle/>
        <a:p>
          <a:endParaRPr lang="en-ZA" dirty="0"/>
        </a:p>
      </dgm:t>
    </dgm:pt>
    <dgm:pt modelId="{FF6BDC46-AA1B-4CFC-B735-04F9344C2B0E}" type="pres">
      <dgm:prSet presAssocID="{B922FA77-9431-44C7-AA88-2AE3A5A95D1D}" presName="Name0" presStyleCnt="0">
        <dgm:presLayoutVars>
          <dgm:dir/>
          <dgm:resizeHandles val="exact"/>
        </dgm:presLayoutVars>
      </dgm:prSet>
      <dgm:spPr/>
    </dgm:pt>
    <dgm:pt modelId="{F9C402B8-2469-4065-9D5C-0F178A3CAFFC}" type="pres">
      <dgm:prSet presAssocID="{027B9119-BB3E-4C57-851A-3CD6B3983BF5}" presName="node" presStyleLbl="node1" presStyleIdx="0" presStyleCnt="3">
        <dgm:presLayoutVars>
          <dgm:bulletEnabled val="1"/>
        </dgm:presLayoutVars>
      </dgm:prSet>
      <dgm:spPr/>
    </dgm:pt>
    <dgm:pt modelId="{26593AA2-833E-4DF6-AA1D-22295B482292}" type="pres">
      <dgm:prSet presAssocID="{A540FFF3-1067-43B3-9ADF-6CB1234DBCA6}" presName="sibTrans" presStyleLbl="sibTrans2D1" presStyleIdx="0" presStyleCnt="2"/>
      <dgm:spPr/>
    </dgm:pt>
    <dgm:pt modelId="{7FEEFEF4-DA0D-4FB3-9238-8E729BEFB65B}" type="pres">
      <dgm:prSet presAssocID="{A540FFF3-1067-43B3-9ADF-6CB1234DBCA6}" presName="connectorText" presStyleLbl="sibTrans2D1" presStyleIdx="0" presStyleCnt="2"/>
      <dgm:spPr/>
    </dgm:pt>
    <dgm:pt modelId="{BAC77CFB-9A87-4ABD-BB4E-B3CE3AF702D5}" type="pres">
      <dgm:prSet presAssocID="{A4E83148-1905-4009-B1F8-21506E21A2F3}" presName="node" presStyleLbl="node1" presStyleIdx="1" presStyleCnt="3">
        <dgm:presLayoutVars>
          <dgm:bulletEnabled val="1"/>
        </dgm:presLayoutVars>
      </dgm:prSet>
      <dgm:spPr/>
    </dgm:pt>
    <dgm:pt modelId="{8A6D9DEC-CF77-47E8-9C8F-52943F4923E7}" type="pres">
      <dgm:prSet presAssocID="{AE6E3EDB-CF96-4D77-B050-299E485E4C0A}" presName="sibTrans" presStyleLbl="sibTrans2D1" presStyleIdx="1" presStyleCnt="2"/>
      <dgm:spPr/>
    </dgm:pt>
    <dgm:pt modelId="{803B7197-E525-4015-8F15-E3B6A858EC1E}" type="pres">
      <dgm:prSet presAssocID="{AE6E3EDB-CF96-4D77-B050-299E485E4C0A}" presName="connectorText" presStyleLbl="sibTrans2D1" presStyleIdx="1" presStyleCnt="2"/>
      <dgm:spPr/>
    </dgm:pt>
    <dgm:pt modelId="{E9F1B38A-F57F-474A-BEF3-F20DFB5B8A7E}" type="pres">
      <dgm:prSet presAssocID="{243A4E3B-B3CC-46D3-8FA9-CCB0301028C7}" presName="node" presStyleLbl="node1" presStyleIdx="2" presStyleCnt="3">
        <dgm:presLayoutVars>
          <dgm:bulletEnabled val="1"/>
        </dgm:presLayoutVars>
      </dgm:prSet>
      <dgm:spPr/>
    </dgm:pt>
  </dgm:ptLst>
  <dgm:cxnLst>
    <dgm:cxn modelId="{D81FA916-1B2B-4904-840E-9E303DE1BF4D}" type="presOf" srcId="{A4E83148-1905-4009-B1F8-21506E21A2F3}" destId="{BAC77CFB-9A87-4ABD-BB4E-B3CE3AF702D5}" srcOrd="0" destOrd="0" presId="urn:microsoft.com/office/officeart/2005/8/layout/process1"/>
    <dgm:cxn modelId="{EBD04A1A-AD60-410C-B3BC-3FBE5F88F9BC}" srcId="{B922FA77-9431-44C7-AA88-2AE3A5A95D1D}" destId="{027B9119-BB3E-4C57-851A-3CD6B3983BF5}" srcOrd="0" destOrd="0" parTransId="{8B2CD087-25E0-476C-BFE5-3662F28459F4}" sibTransId="{A540FFF3-1067-43B3-9ADF-6CB1234DBCA6}"/>
    <dgm:cxn modelId="{8F1BFF28-4B4B-494F-8640-4A0D1618A4DF}" type="presOf" srcId="{A540FFF3-1067-43B3-9ADF-6CB1234DBCA6}" destId="{7FEEFEF4-DA0D-4FB3-9238-8E729BEFB65B}" srcOrd="1" destOrd="0" presId="urn:microsoft.com/office/officeart/2005/8/layout/process1"/>
    <dgm:cxn modelId="{474C4E2B-5116-476C-BD3F-701480B2DA68}" srcId="{B922FA77-9431-44C7-AA88-2AE3A5A95D1D}" destId="{243A4E3B-B3CC-46D3-8FA9-CCB0301028C7}" srcOrd="2" destOrd="0" parTransId="{52480484-F5FE-4975-A581-83395480B2C0}" sibTransId="{91EDB7E7-F613-4E47-8BD6-44B6309A987D}"/>
    <dgm:cxn modelId="{22660033-28DA-447D-A11D-769E9B651D6C}" type="presOf" srcId="{AE6E3EDB-CF96-4D77-B050-299E485E4C0A}" destId="{8A6D9DEC-CF77-47E8-9C8F-52943F4923E7}" srcOrd="0" destOrd="0" presId="urn:microsoft.com/office/officeart/2005/8/layout/process1"/>
    <dgm:cxn modelId="{5491086C-8774-46F2-8530-FE90240477B1}" type="presOf" srcId="{B922FA77-9431-44C7-AA88-2AE3A5A95D1D}" destId="{FF6BDC46-AA1B-4CFC-B735-04F9344C2B0E}" srcOrd="0" destOrd="0" presId="urn:microsoft.com/office/officeart/2005/8/layout/process1"/>
    <dgm:cxn modelId="{34DCC06D-5FB0-493A-8A4D-743A03C3223E}" type="presOf" srcId="{243A4E3B-B3CC-46D3-8FA9-CCB0301028C7}" destId="{E9F1B38A-F57F-474A-BEF3-F20DFB5B8A7E}" srcOrd="0" destOrd="0" presId="urn:microsoft.com/office/officeart/2005/8/layout/process1"/>
    <dgm:cxn modelId="{32867F52-D3F2-45A2-8239-AE3423D4AEAB}" type="presOf" srcId="{A540FFF3-1067-43B3-9ADF-6CB1234DBCA6}" destId="{26593AA2-833E-4DF6-AA1D-22295B482292}" srcOrd="0" destOrd="0" presId="urn:microsoft.com/office/officeart/2005/8/layout/process1"/>
    <dgm:cxn modelId="{00095691-7218-40EE-8749-8A8F6BB3DF9D}" srcId="{B922FA77-9431-44C7-AA88-2AE3A5A95D1D}" destId="{A4E83148-1905-4009-B1F8-21506E21A2F3}" srcOrd="1" destOrd="0" parTransId="{E738912A-0955-4A92-BF42-54097ACEDE39}" sibTransId="{AE6E3EDB-CF96-4D77-B050-299E485E4C0A}"/>
    <dgm:cxn modelId="{198AECA8-9795-4387-B9B7-66E55B4712F5}" type="presOf" srcId="{AE6E3EDB-CF96-4D77-B050-299E485E4C0A}" destId="{803B7197-E525-4015-8F15-E3B6A858EC1E}" srcOrd="1" destOrd="0" presId="urn:microsoft.com/office/officeart/2005/8/layout/process1"/>
    <dgm:cxn modelId="{C4ADEDAD-FDDA-407E-913C-194100878507}" type="presOf" srcId="{027B9119-BB3E-4C57-851A-3CD6B3983BF5}" destId="{F9C402B8-2469-4065-9D5C-0F178A3CAFFC}" srcOrd="0" destOrd="0" presId="urn:microsoft.com/office/officeart/2005/8/layout/process1"/>
    <dgm:cxn modelId="{7C71B54A-7CDF-4E3E-981D-DD228214421B}" type="presParOf" srcId="{FF6BDC46-AA1B-4CFC-B735-04F9344C2B0E}" destId="{F9C402B8-2469-4065-9D5C-0F178A3CAFFC}" srcOrd="0" destOrd="0" presId="urn:microsoft.com/office/officeart/2005/8/layout/process1"/>
    <dgm:cxn modelId="{82DB4F70-2A2A-4D44-A82C-C65636A6D896}" type="presParOf" srcId="{FF6BDC46-AA1B-4CFC-B735-04F9344C2B0E}" destId="{26593AA2-833E-4DF6-AA1D-22295B482292}" srcOrd="1" destOrd="0" presId="urn:microsoft.com/office/officeart/2005/8/layout/process1"/>
    <dgm:cxn modelId="{19607F69-61FE-40B9-AE7B-C27748D03350}" type="presParOf" srcId="{26593AA2-833E-4DF6-AA1D-22295B482292}" destId="{7FEEFEF4-DA0D-4FB3-9238-8E729BEFB65B}" srcOrd="0" destOrd="0" presId="urn:microsoft.com/office/officeart/2005/8/layout/process1"/>
    <dgm:cxn modelId="{9456A890-936B-4FBB-A1F9-D0B4ED362B8D}" type="presParOf" srcId="{FF6BDC46-AA1B-4CFC-B735-04F9344C2B0E}" destId="{BAC77CFB-9A87-4ABD-BB4E-B3CE3AF702D5}" srcOrd="2" destOrd="0" presId="urn:microsoft.com/office/officeart/2005/8/layout/process1"/>
    <dgm:cxn modelId="{E65990E7-6CE2-4710-AF94-623AD5238D2D}" type="presParOf" srcId="{FF6BDC46-AA1B-4CFC-B735-04F9344C2B0E}" destId="{8A6D9DEC-CF77-47E8-9C8F-52943F4923E7}" srcOrd="3" destOrd="0" presId="urn:microsoft.com/office/officeart/2005/8/layout/process1"/>
    <dgm:cxn modelId="{30EAEE66-9A89-4F4F-8DDA-97D817FFB074}" type="presParOf" srcId="{8A6D9DEC-CF77-47E8-9C8F-52943F4923E7}" destId="{803B7197-E525-4015-8F15-E3B6A858EC1E}" srcOrd="0" destOrd="0" presId="urn:microsoft.com/office/officeart/2005/8/layout/process1"/>
    <dgm:cxn modelId="{4D7EFD75-1446-4F4F-A884-389EC964D2F9}" type="presParOf" srcId="{FF6BDC46-AA1B-4CFC-B735-04F9344C2B0E}" destId="{E9F1B38A-F57F-474A-BEF3-F20DFB5B8A7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5A57E6-A885-4FAC-BF7B-3FEB98CA1DB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B14E1DA0-9113-4E0A-BAC4-60DC3CB63EFA}">
      <dgm:prSet custT="1"/>
      <dgm:spPr/>
      <dgm:t>
        <a:bodyPr/>
        <a:lstStyle/>
        <a:p>
          <a:r>
            <a:rPr lang="en-ZA" sz="3200" b="1" dirty="0">
              <a:solidFill>
                <a:srgbClr val="003366"/>
              </a:solidFill>
              <a:latin typeface="Aptos Display" panose="02110004020202020204"/>
              <a:ea typeface="Arial" charset="0"/>
              <a:cs typeface="+mj-cs"/>
            </a:rPr>
            <a:t>Proposed Solutions</a:t>
          </a:r>
          <a:endParaRPr lang="en-ZA" sz="3200" dirty="0"/>
        </a:p>
      </dgm:t>
    </dgm:pt>
    <dgm:pt modelId="{02C69E5D-2425-4A72-AF63-409046E5A617}" type="parTrans" cxnId="{7970058A-960B-4FAF-814E-0DD004A9823D}">
      <dgm:prSet/>
      <dgm:spPr/>
      <dgm:t>
        <a:bodyPr/>
        <a:lstStyle/>
        <a:p>
          <a:endParaRPr lang="en-ZA"/>
        </a:p>
      </dgm:t>
    </dgm:pt>
    <dgm:pt modelId="{19326328-26D7-4545-9BD2-4C015D698954}" type="sibTrans" cxnId="{7970058A-960B-4FAF-814E-0DD004A9823D}">
      <dgm:prSet/>
      <dgm:spPr/>
      <dgm:t>
        <a:bodyPr/>
        <a:lstStyle/>
        <a:p>
          <a:endParaRPr lang="en-ZA"/>
        </a:p>
      </dgm:t>
    </dgm:pt>
    <dgm:pt modelId="{9DAC967C-4795-413E-A1A2-C85393CE37CE}">
      <dgm:prSet/>
      <dgm:spPr/>
      <dgm:t>
        <a:bodyPr/>
        <a:lstStyle/>
        <a:p>
          <a:r>
            <a:rPr lang="en-ZA" dirty="0"/>
            <a:t>Solution 1: Redesign GDS</a:t>
          </a:r>
        </a:p>
      </dgm:t>
    </dgm:pt>
    <dgm:pt modelId="{775EE1AA-6772-4247-8923-ECD4AFF4423C}" type="parTrans" cxnId="{9675172F-9443-4FCE-A9A2-B4F0725F18A0}">
      <dgm:prSet/>
      <dgm:spPr/>
      <dgm:t>
        <a:bodyPr/>
        <a:lstStyle/>
        <a:p>
          <a:endParaRPr lang="en-ZA"/>
        </a:p>
      </dgm:t>
    </dgm:pt>
    <dgm:pt modelId="{E7C71B7F-9289-4B0C-89C0-A3F2AE4CBCD4}" type="sibTrans" cxnId="{9675172F-9443-4FCE-A9A2-B4F0725F18A0}">
      <dgm:prSet/>
      <dgm:spPr/>
      <dgm:t>
        <a:bodyPr/>
        <a:lstStyle/>
        <a:p>
          <a:endParaRPr lang="en-ZA"/>
        </a:p>
      </dgm:t>
    </dgm:pt>
    <dgm:pt modelId="{21C40E69-B512-4C94-9036-72DF2EB38197}">
      <dgm:prSet/>
      <dgm:spPr/>
      <dgm:t>
        <a:bodyPr/>
        <a:lstStyle/>
        <a:p>
          <a:r>
            <a:rPr lang="en-ZA" dirty="0"/>
            <a:t>Solution 2: Develop Power BI Dashboard</a:t>
          </a:r>
        </a:p>
      </dgm:t>
    </dgm:pt>
    <dgm:pt modelId="{AF25AECE-719B-4A59-B916-2B4599D1E35B}" type="parTrans" cxnId="{C2F6BABF-1FD6-44E1-8CB9-EE1049DFE48D}">
      <dgm:prSet/>
      <dgm:spPr/>
      <dgm:t>
        <a:bodyPr/>
        <a:lstStyle/>
        <a:p>
          <a:endParaRPr lang="en-ZA"/>
        </a:p>
      </dgm:t>
    </dgm:pt>
    <dgm:pt modelId="{171DDB09-0BDA-42B9-9B89-4BD7B1678D4A}" type="sibTrans" cxnId="{C2F6BABF-1FD6-44E1-8CB9-EE1049DFE48D}">
      <dgm:prSet/>
      <dgm:spPr/>
      <dgm:t>
        <a:bodyPr/>
        <a:lstStyle/>
        <a:p>
          <a:endParaRPr lang="en-ZA"/>
        </a:p>
      </dgm:t>
    </dgm:pt>
    <dgm:pt modelId="{28CD994A-BECB-4240-8640-31CC74040B24}" type="pres">
      <dgm:prSet presAssocID="{5E5A57E6-A885-4FAC-BF7B-3FEB98CA1DB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AC5387F-3F0C-4898-BBBE-C97BA012ECB7}" type="pres">
      <dgm:prSet presAssocID="{B14E1DA0-9113-4E0A-BAC4-60DC3CB63EFA}" presName="hierRoot1" presStyleCnt="0">
        <dgm:presLayoutVars>
          <dgm:hierBranch val="init"/>
        </dgm:presLayoutVars>
      </dgm:prSet>
      <dgm:spPr/>
    </dgm:pt>
    <dgm:pt modelId="{ECD82D86-E4A6-48A7-A083-0962848B9DD5}" type="pres">
      <dgm:prSet presAssocID="{B14E1DA0-9113-4E0A-BAC4-60DC3CB63EFA}" presName="rootComposite1" presStyleCnt="0"/>
      <dgm:spPr/>
    </dgm:pt>
    <dgm:pt modelId="{871D5A54-A203-40A4-80AC-EFFB5CE4F23A}" type="pres">
      <dgm:prSet presAssocID="{B14E1DA0-9113-4E0A-BAC4-60DC3CB63EFA}" presName="rootText1" presStyleLbl="node0" presStyleIdx="0" presStyleCnt="1" custScaleX="319552" custScaleY="251091">
        <dgm:presLayoutVars>
          <dgm:chPref val="3"/>
        </dgm:presLayoutVars>
      </dgm:prSet>
      <dgm:spPr/>
    </dgm:pt>
    <dgm:pt modelId="{D4223F1F-5048-4081-BA65-B5E6ACF2877B}" type="pres">
      <dgm:prSet presAssocID="{B14E1DA0-9113-4E0A-BAC4-60DC3CB63EFA}" presName="rootConnector1" presStyleLbl="node1" presStyleIdx="0" presStyleCnt="0"/>
      <dgm:spPr/>
    </dgm:pt>
    <dgm:pt modelId="{1536C806-C0F3-478D-887A-DF470D1730BB}" type="pres">
      <dgm:prSet presAssocID="{B14E1DA0-9113-4E0A-BAC4-60DC3CB63EFA}" presName="hierChild2" presStyleCnt="0"/>
      <dgm:spPr/>
    </dgm:pt>
    <dgm:pt modelId="{9DE6A30F-03A5-44BD-A725-5518F2531EBC}" type="pres">
      <dgm:prSet presAssocID="{775EE1AA-6772-4247-8923-ECD4AFF4423C}" presName="Name37" presStyleLbl="parChTrans1D2" presStyleIdx="0" presStyleCnt="2"/>
      <dgm:spPr/>
    </dgm:pt>
    <dgm:pt modelId="{BE91EEFD-4C4F-4FA4-AB7F-292F7AA593E1}" type="pres">
      <dgm:prSet presAssocID="{9DAC967C-4795-413E-A1A2-C85393CE37CE}" presName="hierRoot2" presStyleCnt="0">
        <dgm:presLayoutVars>
          <dgm:hierBranch val="init"/>
        </dgm:presLayoutVars>
      </dgm:prSet>
      <dgm:spPr/>
    </dgm:pt>
    <dgm:pt modelId="{690F1DCC-1363-4577-8EFA-19F8765C8762}" type="pres">
      <dgm:prSet presAssocID="{9DAC967C-4795-413E-A1A2-C85393CE37CE}" presName="rootComposite" presStyleCnt="0"/>
      <dgm:spPr/>
    </dgm:pt>
    <dgm:pt modelId="{9A3FA7A3-E639-4AE1-A4FF-BA359A5E0233}" type="pres">
      <dgm:prSet presAssocID="{9DAC967C-4795-413E-A1A2-C85393CE37CE}" presName="rootText" presStyleLbl="node2" presStyleIdx="0" presStyleCnt="2">
        <dgm:presLayoutVars>
          <dgm:chPref val="3"/>
        </dgm:presLayoutVars>
      </dgm:prSet>
      <dgm:spPr/>
    </dgm:pt>
    <dgm:pt modelId="{FA63B9E1-47B7-45D5-AB10-75B3797B690D}" type="pres">
      <dgm:prSet presAssocID="{9DAC967C-4795-413E-A1A2-C85393CE37CE}" presName="rootConnector" presStyleLbl="node2" presStyleIdx="0" presStyleCnt="2"/>
      <dgm:spPr/>
    </dgm:pt>
    <dgm:pt modelId="{3C57BC29-8C27-4078-AA61-7C0587956049}" type="pres">
      <dgm:prSet presAssocID="{9DAC967C-4795-413E-A1A2-C85393CE37CE}" presName="hierChild4" presStyleCnt="0"/>
      <dgm:spPr/>
    </dgm:pt>
    <dgm:pt modelId="{363C9B99-8E42-446A-BA92-14EA61FE81BA}" type="pres">
      <dgm:prSet presAssocID="{9DAC967C-4795-413E-A1A2-C85393CE37CE}" presName="hierChild5" presStyleCnt="0"/>
      <dgm:spPr/>
    </dgm:pt>
    <dgm:pt modelId="{486EDF73-8BB9-449D-989E-A97DBBF0D0B2}" type="pres">
      <dgm:prSet presAssocID="{AF25AECE-719B-4A59-B916-2B4599D1E35B}" presName="Name37" presStyleLbl="parChTrans1D2" presStyleIdx="1" presStyleCnt="2"/>
      <dgm:spPr/>
    </dgm:pt>
    <dgm:pt modelId="{4A34B3E3-0DC2-4CD3-B1A7-D3A075629968}" type="pres">
      <dgm:prSet presAssocID="{21C40E69-B512-4C94-9036-72DF2EB38197}" presName="hierRoot2" presStyleCnt="0">
        <dgm:presLayoutVars>
          <dgm:hierBranch val="init"/>
        </dgm:presLayoutVars>
      </dgm:prSet>
      <dgm:spPr/>
    </dgm:pt>
    <dgm:pt modelId="{C30FB679-002A-4398-87A3-44CE5DA7948E}" type="pres">
      <dgm:prSet presAssocID="{21C40E69-B512-4C94-9036-72DF2EB38197}" presName="rootComposite" presStyleCnt="0"/>
      <dgm:spPr/>
    </dgm:pt>
    <dgm:pt modelId="{4434DF80-9C13-477E-A7E4-D0168350A634}" type="pres">
      <dgm:prSet presAssocID="{21C40E69-B512-4C94-9036-72DF2EB38197}" presName="rootText" presStyleLbl="node2" presStyleIdx="1" presStyleCnt="2">
        <dgm:presLayoutVars>
          <dgm:chPref val="3"/>
        </dgm:presLayoutVars>
      </dgm:prSet>
      <dgm:spPr/>
    </dgm:pt>
    <dgm:pt modelId="{02513A13-CF6B-44E6-B94D-9565D2CA23B6}" type="pres">
      <dgm:prSet presAssocID="{21C40E69-B512-4C94-9036-72DF2EB38197}" presName="rootConnector" presStyleLbl="node2" presStyleIdx="1" presStyleCnt="2"/>
      <dgm:spPr/>
    </dgm:pt>
    <dgm:pt modelId="{A7507761-5291-4B2B-B979-DDC36DFF6D58}" type="pres">
      <dgm:prSet presAssocID="{21C40E69-B512-4C94-9036-72DF2EB38197}" presName="hierChild4" presStyleCnt="0"/>
      <dgm:spPr/>
    </dgm:pt>
    <dgm:pt modelId="{B281C39A-83E8-484F-B564-D1865A3BC8BF}" type="pres">
      <dgm:prSet presAssocID="{21C40E69-B512-4C94-9036-72DF2EB38197}" presName="hierChild5" presStyleCnt="0"/>
      <dgm:spPr/>
    </dgm:pt>
    <dgm:pt modelId="{BAD1A1EF-C394-492B-ABB3-E46C78AA90A7}" type="pres">
      <dgm:prSet presAssocID="{B14E1DA0-9113-4E0A-BAC4-60DC3CB63EFA}" presName="hierChild3" presStyleCnt="0"/>
      <dgm:spPr/>
    </dgm:pt>
  </dgm:ptLst>
  <dgm:cxnLst>
    <dgm:cxn modelId="{DFA4F61D-3487-466E-B270-85D3CAE2AEB9}" type="presOf" srcId="{21C40E69-B512-4C94-9036-72DF2EB38197}" destId="{02513A13-CF6B-44E6-B94D-9565D2CA23B6}" srcOrd="1" destOrd="0" presId="urn:microsoft.com/office/officeart/2005/8/layout/orgChart1"/>
    <dgm:cxn modelId="{B80D5120-4229-4262-97FE-851994A523B5}" type="presOf" srcId="{AF25AECE-719B-4A59-B916-2B4599D1E35B}" destId="{486EDF73-8BB9-449D-989E-A97DBBF0D0B2}" srcOrd="0" destOrd="0" presId="urn:microsoft.com/office/officeart/2005/8/layout/orgChart1"/>
    <dgm:cxn modelId="{9675172F-9443-4FCE-A9A2-B4F0725F18A0}" srcId="{B14E1DA0-9113-4E0A-BAC4-60DC3CB63EFA}" destId="{9DAC967C-4795-413E-A1A2-C85393CE37CE}" srcOrd="0" destOrd="0" parTransId="{775EE1AA-6772-4247-8923-ECD4AFF4423C}" sibTransId="{E7C71B7F-9289-4B0C-89C0-A3F2AE4CBCD4}"/>
    <dgm:cxn modelId="{69078132-A17C-4959-B993-33E91DB08F1B}" type="presOf" srcId="{5E5A57E6-A885-4FAC-BF7B-3FEB98CA1DB0}" destId="{28CD994A-BECB-4240-8640-31CC74040B24}" srcOrd="0" destOrd="0" presId="urn:microsoft.com/office/officeart/2005/8/layout/orgChart1"/>
    <dgm:cxn modelId="{DE60A73F-DDA8-47EA-9779-C6EE5B2CC0BB}" type="presOf" srcId="{B14E1DA0-9113-4E0A-BAC4-60DC3CB63EFA}" destId="{871D5A54-A203-40A4-80AC-EFFB5CE4F23A}" srcOrd="0" destOrd="0" presId="urn:microsoft.com/office/officeart/2005/8/layout/orgChart1"/>
    <dgm:cxn modelId="{8C4ACB63-266D-43D8-BA17-A6FBA0D52237}" type="presOf" srcId="{B14E1DA0-9113-4E0A-BAC4-60DC3CB63EFA}" destId="{D4223F1F-5048-4081-BA65-B5E6ACF2877B}" srcOrd="1" destOrd="0" presId="urn:microsoft.com/office/officeart/2005/8/layout/orgChart1"/>
    <dgm:cxn modelId="{7970058A-960B-4FAF-814E-0DD004A9823D}" srcId="{5E5A57E6-A885-4FAC-BF7B-3FEB98CA1DB0}" destId="{B14E1DA0-9113-4E0A-BAC4-60DC3CB63EFA}" srcOrd="0" destOrd="0" parTransId="{02C69E5D-2425-4A72-AF63-409046E5A617}" sibTransId="{19326328-26D7-4545-9BD2-4C015D698954}"/>
    <dgm:cxn modelId="{865E989B-266E-4887-A2AC-6D11CF5DCBB4}" type="presOf" srcId="{9DAC967C-4795-413E-A1A2-C85393CE37CE}" destId="{9A3FA7A3-E639-4AE1-A4FF-BA359A5E0233}" srcOrd="0" destOrd="0" presId="urn:microsoft.com/office/officeart/2005/8/layout/orgChart1"/>
    <dgm:cxn modelId="{7625D1B4-1A4D-43F8-A1F8-4D8C3CFA7F0C}" type="presOf" srcId="{21C40E69-B512-4C94-9036-72DF2EB38197}" destId="{4434DF80-9C13-477E-A7E4-D0168350A634}" srcOrd="0" destOrd="0" presId="urn:microsoft.com/office/officeart/2005/8/layout/orgChart1"/>
    <dgm:cxn modelId="{C2F6BABF-1FD6-44E1-8CB9-EE1049DFE48D}" srcId="{B14E1DA0-9113-4E0A-BAC4-60DC3CB63EFA}" destId="{21C40E69-B512-4C94-9036-72DF2EB38197}" srcOrd="1" destOrd="0" parTransId="{AF25AECE-719B-4A59-B916-2B4599D1E35B}" sibTransId="{171DDB09-0BDA-42B9-9B89-4BD7B1678D4A}"/>
    <dgm:cxn modelId="{0C9D4FEF-CF76-4F6A-B086-7B080995A439}" type="presOf" srcId="{775EE1AA-6772-4247-8923-ECD4AFF4423C}" destId="{9DE6A30F-03A5-44BD-A725-5518F2531EBC}" srcOrd="0" destOrd="0" presId="urn:microsoft.com/office/officeart/2005/8/layout/orgChart1"/>
    <dgm:cxn modelId="{C54A11F4-1763-42A4-B8BF-AFCBA6471231}" type="presOf" srcId="{9DAC967C-4795-413E-A1A2-C85393CE37CE}" destId="{FA63B9E1-47B7-45D5-AB10-75B3797B690D}" srcOrd="1" destOrd="0" presId="urn:microsoft.com/office/officeart/2005/8/layout/orgChart1"/>
    <dgm:cxn modelId="{B97F1027-3366-45AF-B20D-B902064A59AD}" type="presParOf" srcId="{28CD994A-BECB-4240-8640-31CC74040B24}" destId="{7AC5387F-3F0C-4898-BBBE-C97BA012ECB7}" srcOrd="0" destOrd="0" presId="urn:microsoft.com/office/officeart/2005/8/layout/orgChart1"/>
    <dgm:cxn modelId="{C954E199-8943-4825-9E8C-A6FA1C3856EB}" type="presParOf" srcId="{7AC5387F-3F0C-4898-BBBE-C97BA012ECB7}" destId="{ECD82D86-E4A6-48A7-A083-0962848B9DD5}" srcOrd="0" destOrd="0" presId="urn:microsoft.com/office/officeart/2005/8/layout/orgChart1"/>
    <dgm:cxn modelId="{CF6911CD-6005-4E92-8879-4D22C4D9A050}" type="presParOf" srcId="{ECD82D86-E4A6-48A7-A083-0962848B9DD5}" destId="{871D5A54-A203-40A4-80AC-EFFB5CE4F23A}" srcOrd="0" destOrd="0" presId="urn:microsoft.com/office/officeart/2005/8/layout/orgChart1"/>
    <dgm:cxn modelId="{C9E9EA85-0799-4DCE-90F9-7C7F03ECFBA9}" type="presParOf" srcId="{ECD82D86-E4A6-48A7-A083-0962848B9DD5}" destId="{D4223F1F-5048-4081-BA65-B5E6ACF2877B}" srcOrd="1" destOrd="0" presId="urn:microsoft.com/office/officeart/2005/8/layout/orgChart1"/>
    <dgm:cxn modelId="{9D6FECF8-3866-4AFD-BD52-EB104A23831B}" type="presParOf" srcId="{7AC5387F-3F0C-4898-BBBE-C97BA012ECB7}" destId="{1536C806-C0F3-478D-887A-DF470D1730BB}" srcOrd="1" destOrd="0" presId="urn:microsoft.com/office/officeart/2005/8/layout/orgChart1"/>
    <dgm:cxn modelId="{A8174D6B-21F5-48DB-B04F-924A879C9944}" type="presParOf" srcId="{1536C806-C0F3-478D-887A-DF470D1730BB}" destId="{9DE6A30F-03A5-44BD-A725-5518F2531EBC}" srcOrd="0" destOrd="0" presId="urn:microsoft.com/office/officeart/2005/8/layout/orgChart1"/>
    <dgm:cxn modelId="{B381DC9B-4597-4434-9659-34900117AC27}" type="presParOf" srcId="{1536C806-C0F3-478D-887A-DF470D1730BB}" destId="{BE91EEFD-4C4F-4FA4-AB7F-292F7AA593E1}" srcOrd="1" destOrd="0" presId="urn:microsoft.com/office/officeart/2005/8/layout/orgChart1"/>
    <dgm:cxn modelId="{0D1206DE-4C76-4B4A-9AAD-78D9834D0068}" type="presParOf" srcId="{BE91EEFD-4C4F-4FA4-AB7F-292F7AA593E1}" destId="{690F1DCC-1363-4577-8EFA-19F8765C8762}" srcOrd="0" destOrd="0" presId="urn:microsoft.com/office/officeart/2005/8/layout/orgChart1"/>
    <dgm:cxn modelId="{01459BAD-37A0-42EE-9B16-6C7ECF9D88AD}" type="presParOf" srcId="{690F1DCC-1363-4577-8EFA-19F8765C8762}" destId="{9A3FA7A3-E639-4AE1-A4FF-BA359A5E0233}" srcOrd="0" destOrd="0" presId="urn:microsoft.com/office/officeart/2005/8/layout/orgChart1"/>
    <dgm:cxn modelId="{DD1CCB03-E1C2-4C14-A32F-788F4F698F20}" type="presParOf" srcId="{690F1DCC-1363-4577-8EFA-19F8765C8762}" destId="{FA63B9E1-47B7-45D5-AB10-75B3797B690D}" srcOrd="1" destOrd="0" presId="urn:microsoft.com/office/officeart/2005/8/layout/orgChart1"/>
    <dgm:cxn modelId="{FEC83DF7-02D0-4670-9BF0-BC1E1DFA3A78}" type="presParOf" srcId="{BE91EEFD-4C4F-4FA4-AB7F-292F7AA593E1}" destId="{3C57BC29-8C27-4078-AA61-7C0587956049}" srcOrd="1" destOrd="0" presId="urn:microsoft.com/office/officeart/2005/8/layout/orgChart1"/>
    <dgm:cxn modelId="{6D7907DC-9F52-4515-93A0-3F4B39DA158A}" type="presParOf" srcId="{BE91EEFD-4C4F-4FA4-AB7F-292F7AA593E1}" destId="{363C9B99-8E42-446A-BA92-14EA61FE81BA}" srcOrd="2" destOrd="0" presId="urn:microsoft.com/office/officeart/2005/8/layout/orgChart1"/>
    <dgm:cxn modelId="{69B49F21-27A0-48EB-ACCC-1A86260B52C8}" type="presParOf" srcId="{1536C806-C0F3-478D-887A-DF470D1730BB}" destId="{486EDF73-8BB9-449D-989E-A97DBBF0D0B2}" srcOrd="2" destOrd="0" presId="urn:microsoft.com/office/officeart/2005/8/layout/orgChart1"/>
    <dgm:cxn modelId="{886BBEC5-8EAD-4203-A538-7A0FA7BFCEE9}" type="presParOf" srcId="{1536C806-C0F3-478D-887A-DF470D1730BB}" destId="{4A34B3E3-0DC2-4CD3-B1A7-D3A075629968}" srcOrd="3" destOrd="0" presId="urn:microsoft.com/office/officeart/2005/8/layout/orgChart1"/>
    <dgm:cxn modelId="{B1BF0CE5-68C4-400E-AEE5-68951FA6B595}" type="presParOf" srcId="{4A34B3E3-0DC2-4CD3-B1A7-D3A075629968}" destId="{C30FB679-002A-4398-87A3-44CE5DA7948E}" srcOrd="0" destOrd="0" presId="urn:microsoft.com/office/officeart/2005/8/layout/orgChart1"/>
    <dgm:cxn modelId="{1EBBB4D7-F97A-4CED-994A-DAB652E7E2EE}" type="presParOf" srcId="{C30FB679-002A-4398-87A3-44CE5DA7948E}" destId="{4434DF80-9C13-477E-A7E4-D0168350A634}" srcOrd="0" destOrd="0" presId="urn:microsoft.com/office/officeart/2005/8/layout/orgChart1"/>
    <dgm:cxn modelId="{6CEBF433-DA71-4957-A479-5349F68469F2}" type="presParOf" srcId="{C30FB679-002A-4398-87A3-44CE5DA7948E}" destId="{02513A13-CF6B-44E6-B94D-9565D2CA23B6}" srcOrd="1" destOrd="0" presId="urn:microsoft.com/office/officeart/2005/8/layout/orgChart1"/>
    <dgm:cxn modelId="{43769B08-39A4-43A0-B45F-D52F0D91C91B}" type="presParOf" srcId="{4A34B3E3-0DC2-4CD3-B1A7-D3A075629968}" destId="{A7507761-5291-4B2B-B979-DDC36DFF6D58}" srcOrd="1" destOrd="0" presId="urn:microsoft.com/office/officeart/2005/8/layout/orgChart1"/>
    <dgm:cxn modelId="{FCA80572-DD46-41B6-B325-2CF8EB98D216}" type="presParOf" srcId="{4A34B3E3-0DC2-4CD3-B1A7-D3A075629968}" destId="{B281C39A-83E8-484F-B564-D1865A3BC8BF}" srcOrd="2" destOrd="0" presId="urn:microsoft.com/office/officeart/2005/8/layout/orgChart1"/>
    <dgm:cxn modelId="{AD08A171-7AD7-433E-B464-E7E6A5F58E31}" type="presParOf" srcId="{7AC5387F-3F0C-4898-BBBE-C97BA012ECB7}" destId="{BAD1A1EF-C394-492B-ABB3-E46C78AA90A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C402B8-2469-4065-9D5C-0F178A3CAFFC}">
      <dsp:nvSpPr>
        <dsp:cNvPr id="0" name=""/>
        <dsp:cNvSpPr/>
      </dsp:nvSpPr>
      <dsp:spPr>
        <a:xfrm>
          <a:off x="5939" y="1089883"/>
          <a:ext cx="1775141" cy="14457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Improve</a:t>
          </a:r>
          <a:r>
            <a:rPr lang="en-US" sz="1800" kern="1200" baseline="0" dirty="0"/>
            <a:t> survey quality</a:t>
          </a:r>
          <a:endParaRPr lang="en-ZA" sz="1800" kern="1200" dirty="0"/>
        </a:p>
      </dsp:txBody>
      <dsp:txXfrm>
        <a:off x="48284" y="1132228"/>
        <a:ext cx="1690451" cy="1361079"/>
      </dsp:txXfrm>
    </dsp:sp>
    <dsp:sp modelId="{26593AA2-833E-4DF6-AA1D-22295B482292}">
      <dsp:nvSpPr>
        <dsp:cNvPr id="0" name=""/>
        <dsp:cNvSpPr/>
      </dsp:nvSpPr>
      <dsp:spPr>
        <a:xfrm>
          <a:off x="1958594" y="1592650"/>
          <a:ext cx="376329" cy="4402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 dirty="0"/>
        </a:p>
      </dsp:txBody>
      <dsp:txXfrm>
        <a:off x="1958594" y="1680697"/>
        <a:ext cx="263430" cy="264141"/>
      </dsp:txXfrm>
    </dsp:sp>
    <dsp:sp modelId="{BAC77CFB-9A87-4ABD-BB4E-B3CE3AF702D5}">
      <dsp:nvSpPr>
        <dsp:cNvPr id="0" name=""/>
        <dsp:cNvSpPr/>
      </dsp:nvSpPr>
      <dsp:spPr>
        <a:xfrm>
          <a:off x="2491137" y="1089883"/>
          <a:ext cx="1775141" cy="14457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Strengthen Data pipeline(pilot testing)</a:t>
          </a:r>
          <a:endParaRPr lang="en-ZA" sz="1800" kern="1200" dirty="0"/>
        </a:p>
      </dsp:txBody>
      <dsp:txXfrm>
        <a:off x="2533482" y="1132228"/>
        <a:ext cx="1690451" cy="1361079"/>
      </dsp:txXfrm>
    </dsp:sp>
    <dsp:sp modelId="{8A6D9DEC-CF77-47E8-9C8F-52943F4923E7}">
      <dsp:nvSpPr>
        <dsp:cNvPr id="0" name=""/>
        <dsp:cNvSpPr/>
      </dsp:nvSpPr>
      <dsp:spPr>
        <a:xfrm>
          <a:off x="4443792" y="1592650"/>
          <a:ext cx="376329" cy="44023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1400" kern="1200" dirty="0"/>
        </a:p>
      </dsp:txBody>
      <dsp:txXfrm>
        <a:off x="4443792" y="1680697"/>
        <a:ext cx="263430" cy="264141"/>
      </dsp:txXfrm>
    </dsp:sp>
    <dsp:sp modelId="{E9F1B38A-F57F-474A-BEF3-F20DFB5B8A7E}">
      <dsp:nvSpPr>
        <dsp:cNvPr id="0" name=""/>
        <dsp:cNvSpPr/>
      </dsp:nvSpPr>
      <dsp:spPr>
        <a:xfrm>
          <a:off x="4976335" y="1089883"/>
          <a:ext cx="1775141" cy="14457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Enhance reporting capacity (dashboard development)</a:t>
          </a:r>
          <a:endParaRPr lang="en-ZA" sz="1800" kern="1200" dirty="0"/>
        </a:p>
      </dsp:txBody>
      <dsp:txXfrm>
        <a:off x="5018680" y="1132228"/>
        <a:ext cx="1690451" cy="13610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EDF73-8BB9-449D-989E-A97DBBF0D0B2}">
      <dsp:nvSpPr>
        <dsp:cNvPr id="0" name=""/>
        <dsp:cNvSpPr/>
      </dsp:nvSpPr>
      <dsp:spPr>
        <a:xfrm>
          <a:off x="3218688" y="2852928"/>
          <a:ext cx="1217066" cy="4224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226"/>
              </a:lnTo>
              <a:lnTo>
                <a:pt x="1217066" y="211226"/>
              </a:lnTo>
              <a:lnTo>
                <a:pt x="1217066" y="4224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E6A30F-03A5-44BD-A725-5518F2531EBC}">
      <dsp:nvSpPr>
        <dsp:cNvPr id="0" name=""/>
        <dsp:cNvSpPr/>
      </dsp:nvSpPr>
      <dsp:spPr>
        <a:xfrm>
          <a:off x="2001621" y="2852928"/>
          <a:ext cx="1217066" cy="422452"/>
        </a:xfrm>
        <a:custGeom>
          <a:avLst/>
          <a:gdLst/>
          <a:ahLst/>
          <a:cxnLst/>
          <a:rect l="0" t="0" r="0" b="0"/>
          <a:pathLst>
            <a:path>
              <a:moveTo>
                <a:pt x="1217066" y="0"/>
              </a:moveTo>
              <a:lnTo>
                <a:pt x="1217066" y="211226"/>
              </a:lnTo>
              <a:lnTo>
                <a:pt x="0" y="211226"/>
              </a:lnTo>
              <a:lnTo>
                <a:pt x="0" y="42245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1D5A54-A203-40A4-80AC-EFFB5CE4F23A}">
      <dsp:nvSpPr>
        <dsp:cNvPr id="0" name=""/>
        <dsp:cNvSpPr/>
      </dsp:nvSpPr>
      <dsp:spPr>
        <a:xfrm>
          <a:off x="4506" y="327354"/>
          <a:ext cx="6428363" cy="25255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200" b="1" kern="1200" dirty="0">
              <a:solidFill>
                <a:srgbClr val="003366"/>
              </a:solidFill>
              <a:latin typeface="Aptos Display" panose="02110004020202020204"/>
              <a:ea typeface="Arial" charset="0"/>
              <a:cs typeface="+mj-cs"/>
            </a:rPr>
            <a:t>Proposed Solutions</a:t>
          </a:r>
          <a:endParaRPr lang="en-ZA" sz="3200" kern="1200" dirty="0"/>
        </a:p>
      </dsp:txBody>
      <dsp:txXfrm>
        <a:off x="4506" y="327354"/>
        <a:ext cx="6428363" cy="2525573"/>
      </dsp:txXfrm>
    </dsp:sp>
    <dsp:sp modelId="{9A3FA7A3-E639-4AE1-A4FF-BA359A5E0233}">
      <dsp:nvSpPr>
        <dsp:cNvPr id="0" name=""/>
        <dsp:cNvSpPr/>
      </dsp:nvSpPr>
      <dsp:spPr>
        <a:xfrm>
          <a:off x="995781" y="3275381"/>
          <a:ext cx="2011680" cy="1005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Solution 1: Redesign GDS</a:t>
          </a:r>
        </a:p>
      </dsp:txBody>
      <dsp:txXfrm>
        <a:off x="995781" y="3275381"/>
        <a:ext cx="2011680" cy="1005840"/>
      </dsp:txXfrm>
    </dsp:sp>
    <dsp:sp modelId="{4434DF80-9C13-477E-A7E4-D0168350A634}">
      <dsp:nvSpPr>
        <dsp:cNvPr id="0" name=""/>
        <dsp:cNvSpPr/>
      </dsp:nvSpPr>
      <dsp:spPr>
        <a:xfrm>
          <a:off x="3429914" y="3275381"/>
          <a:ext cx="2011680" cy="10058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300" kern="1200" dirty="0"/>
            <a:t>Solution 2: Develop Power BI Dashboard</a:t>
          </a:r>
        </a:p>
      </dsp:txBody>
      <dsp:txXfrm>
        <a:off x="3429914" y="3275381"/>
        <a:ext cx="2011680" cy="1005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65F23866-78FD-007B-C6C2-45375464153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8210550" cy="468630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CEDF00A3-5901-42C1-5EE7-4F01D33980C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8210550" cy="468630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2FEB0456-F8AC-091E-B373-F11818877786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8210550" cy="468630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86664-D9D4-4299-B6B5-EF78EC8ABF7E}" type="datetimeFigureOut">
              <a:rPr lang="en-GB" smtClean="0"/>
              <a:t>21/Aug/26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49952-F932-4EDB-B2B9-BE78C063288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4456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49952-F932-4EDB-B2B9-BE78C063288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3499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2428-4ED6-38FB-51C8-ACA0BBFD9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8E38F-8F9B-34B1-186C-87DA55738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59DA4-1E8C-EB1C-E2AB-FBFCE4665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F98B6-E12F-401A-7BED-F8BCE3A48F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49952-F932-4EDB-B2B9-BE78C0632881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343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65853-CF5F-8691-DA77-EC15F9337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FDA19-822B-383A-1B22-02DE408186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4BAC3-DA1A-E161-69B9-316114C8C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0666C-7922-963F-7210-9F8BB4202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49952-F932-4EDB-B2B9-BE78C0632881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8200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49952-F932-4EDB-B2B9-BE78C0632881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5167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4CF2-564A-F9BD-F8EE-8B2F4CDD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8619D-E4F5-90F6-F2B9-1D46E0559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1FCE01-B78F-1CAA-65FE-16249350C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A7987-5A1B-DE02-4368-D20C322F3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49952-F932-4EDB-B2B9-BE78C0632881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6724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1992-479D-CCD6-1D6C-08DE2F870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7EA61C-D683-F85D-FDF6-83B61D3C6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3BBB7-EDC8-AECC-0F41-4DDE4745D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C36CE-C986-E7F5-4813-52ABA1361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49952-F932-4EDB-B2B9-BE78C0632881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9570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0688-4A5F-E825-8D78-DAEE9843A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0FA4E-1D06-1C76-B828-52D952398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9568A-F231-9DF0-AC78-E27324AB0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B18C3-68AD-1A5A-E97D-6B0238322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49952-F932-4EDB-B2B9-BE78C0632881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5945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027" y="2997828"/>
            <a:ext cx="4284973" cy="173442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4280"/>
              </a:lnSpc>
              <a:buFontTx/>
              <a:buNone/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77E755-7CC0-4E15-0C99-801BF21DE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338" y="4355609"/>
            <a:ext cx="4981575" cy="1055688"/>
          </a:xfrm>
          <a:prstGeom prst="rect">
            <a:avLst/>
          </a:prstGeom>
        </p:spPr>
        <p:txBody>
          <a:bodyPr/>
          <a:lstStyle>
            <a:lvl1pPr marL="7938" indent="0">
              <a:buFontTx/>
              <a:buNone/>
              <a:tabLst/>
              <a:defRPr>
                <a:solidFill>
                  <a:schemeClr val="accent1"/>
                </a:solidFill>
              </a:defRPr>
            </a:lvl1pPr>
            <a:lvl2pPr marL="7938" indent="0">
              <a:buFontTx/>
              <a:buNone/>
              <a:tabLst/>
              <a:defRPr>
                <a:solidFill>
                  <a:schemeClr val="accent1"/>
                </a:solidFill>
              </a:defRPr>
            </a:lvl2pPr>
            <a:lvl3pPr marL="685800" indent="0">
              <a:buFontTx/>
              <a:buNone/>
              <a:defRPr>
                <a:solidFill>
                  <a:schemeClr val="accent1"/>
                </a:solidFill>
              </a:defRPr>
            </a:lvl3pPr>
            <a:lvl4pPr marL="1028700" indent="0">
              <a:buFontTx/>
              <a:buNone/>
              <a:defRPr>
                <a:solidFill>
                  <a:schemeClr val="accent1"/>
                </a:solidFill>
              </a:defRPr>
            </a:lvl4pPr>
            <a:lvl5pPr marL="1371600" indent="0">
              <a:buFontTx/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4089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>
        <p:tmplLst>
          <p:tmpl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C28B0D7-57B9-3790-B63D-DCE36D4AD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8298" y="593450"/>
            <a:ext cx="6692187" cy="13580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0492375-919A-9128-D971-49EB388DCA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57400" y="1291324"/>
            <a:ext cx="6691313" cy="3714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03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C735B9A-2254-86C9-2EE8-7BFF5EB20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45" y="593450"/>
            <a:ext cx="6692187" cy="13580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6599885-CD49-5BE4-A6A8-48E5F03B0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8600" y="1291324"/>
            <a:ext cx="6691313" cy="37147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2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4FE766-3BAB-D0BC-193A-BDE9E30D09FB}"/>
              </a:ext>
            </a:extLst>
          </p:cNvPr>
          <p:cNvSpPr/>
          <p:nvPr userDrawn="1"/>
        </p:nvSpPr>
        <p:spPr>
          <a:xfrm>
            <a:off x="0" y="0"/>
            <a:ext cx="9166133" cy="5715000"/>
          </a:xfrm>
          <a:prstGeom prst="rect">
            <a:avLst/>
          </a:prstGeom>
          <a:solidFill>
            <a:srgbClr val="004E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 tree with a circuit board&#10;&#10;Description automatically generated">
            <a:extLst>
              <a:ext uri="{FF2B5EF4-FFF2-40B4-BE49-F238E27FC236}">
                <a16:creationId xmlns:a16="http://schemas.microsoft.com/office/drawing/2014/main" id="{62AB4C57-4BB6-6543-8164-7C47F2DF8C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8301" t="8735" r="18691" b="3656"/>
          <a:stretch/>
        </p:blipFill>
        <p:spPr>
          <a:xfrm>
            <a:off x="-1" y="1"/>
            <a:ext cx="9144001" cy="571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FA17F3-EF91-FE4A-A09C-8F11EF68A57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34471" y="696913"/>
            <a:ext cx="1813830" cy="16019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54F597-43D5-20D8-7AC3-7551E8DC505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6716470" y="696913"/>
            <a:ext cx="1941348" cy="141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93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42">
          <p15:clr>
            <a:srgbClr val="F26B43"/>
          </p15:clr>
        </p15:guide>
        <p15:guide id="2" pos="2880">
          <p15:clr>
            <a:srgbClr val="F26B43"/>
          </p15:clr>
        </p15:guide>
        <p15:guide id="3" pos="249">
          <p15:clr>
            <a:srgbClr val="F26B43"/>
          </p15:clr>
        </p15:guide>
        <p15:guide id="4" pos="5511">
          <p15:clr>
            <a:srgbClr val="F26B43"/>
          </p15:clr>
        </p15:guide>
        <p15:guide id="5" orient="horz" pos="439" userDrawn="1">
          <p15:clr>
            <a:srgbClr val="F26B43"/>
          </p15:clr>
        </p15:guide>
        <p15:guide id="6" orient="horz" pos="132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background with lines and dots&#10;&#10;Description automatically generated">
            <a:extLst>
              <a:ext uri="{FF2B5EF4-FFF2-40B4-BE49-F238E27FC236}">
                <a16:creationId xmlns:a16="http://schemas.microsoft.com/office/drawing/2014/main" id="{9B148420-EC61-2ECE-5827-7CD1B50565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303" t="1303"/>
          <a:stretch/>
        </p:blipFill>
        <p:spPr>
          <a:xfrm>
            <a:off x="1" y="-7530"/>
            <a:ext cx="3026003" cy="57474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AE5D72-018D-6600-1A8E-224BB66B6F8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97338" y="696913"/>
            <a:ext cx="1108203" cy="9787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A582A7-5CF0-7D19-A063-233DCCB74E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84876" y="4428546"/>
            <a:ext cx="1252652" cy="91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1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21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accent6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5" userDrawn="1">
          <p15:clr>
            <a:srgbClr val="F26B43"/>
          </p15:clr>
        </p15:guide>
        <p15:guide id="3" pos="204" userDrawn="1">
          <p15:clr>
            <a:srgbClr val="F26B43"/>
          </p15:clr>
        </p15:guide>
        <p15:guide id="4" pos="5511">
          <p15:clr>
            <a:srgbClr val="F26B43"/>
          </p15:clr>
        </p15:guide>
        <p15:guide id="5" orient="horz" pos="439" userDrawn="1">
          <p15:clr>
            <a:srgbClr val="F26B43"/>
          </p15:clr>
        </p15:guide>
        <p15:guide id="7" pos="1360" userDrawn="1">
          <p15:clr>
            <a:srgbClr val="F26B43"/>
          </p15:clr>
        </p15:guide>
        <p15:guide id="8" pos="113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background with lines and dots&#10;&#10;Description automatically generated">
            <a:extLst>
              <a:ext uri="{FF2B5EF4-FFF2-40B4-BE49-F238E27FC236}">
                <a16:creationId xmlns:a16="http://schemas.microsoft.com/office/drawing/2014/main" id="{5FEF3624-ACD8-BC88-BF90-6C5852A40A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576" t="1751" b="1751"/>
          <a:stretch/>
        </p:blipFill>
        <p:spPr>
          <a:xfrm flipH="1">
            <a:off x="6364230" y="-1"/>
            <a:ext cx="2779767" cy="5715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AE5D72-018D-6600-1A8E-224BB66B6F8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686006" y="696913"/>
            <a:ext cx="1108203" cy="9787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ABD9C6-568B-C8CE-31DB-09AA161C0F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1999" y="4661120"/>
            <a:ext cx="1252652" cy="83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41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accent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21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accent6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65" userDrawn="1">
          <p15:clr>
            <a:srgbClr val="F26B43"/>
          </p15:clr>
        </p15:guide>
        <p15:guide id="3" pos="204" userDrawn="1">
          <p15:clr>
            <a:srgbClr val="F26B43"/>
          </p15:clr>
        </p15:guide>
        <p15:guide id="4" pos="5511">
          <p15:clr>
            <a:srgbClr val="F26B43"/>
          </p15:clr>
        </p15:guide>
        <p15:guide id="5" orient="horz" pos="439" userDrawn="1">
          <p15:clr>
            <a:srgbClr val="F26B43"/>
          </p15:clr>
        </p15:guide>
        <p15:guide id="7" pos="46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7B72D-618E-D7C5-CED3-6DDC15D0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167128"/>
            <a:ext cx="6769753" cy="2965806"/>
          </a:xfrm>
        </p:spPr>
        <p:txBody>
          <a:bodyPr/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8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IMPROVING GRADUATE OUTCOMES REPORTING AT CAPE PENINSULA UNIVERSITY OF TECHNOLOGY:</a:t>
            </a:r>
            <a:br>
              <a:rPr lang="en-US" sz="18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18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CASE STUDY IN SURVEY REDESIGN AND DASHBOARD DEVELOPMENT</a:t>
            </a:r>
            <a:br>
              <a:rPr lang="en-ZA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br>
              <a:rPr lang="en-GB" sz="1200" b="1" dirty="0">
                <a:latin typeface="HelveticaNeueLT Std Med Cn" panose="020B0604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Calibri"/>
              </a:rPr>
            </a:br>
            <a:br>
              <a:rPr lang="en-GB" sz="2800" dirty="0">
                <a:latin typeface="HelveticaNeueLT Std Thin Cn" panose="020B0406020202030204" pitchFamily="34" charset="0"/>
                <a:ea typeface="Cambria" panose="02040503050406030204" pitchFamily="18" charset="0"/>
                <a:cs typeface="Calibri" panose="020F0502020204030204" pitchFamily="34" charset="0"/>
                <a:sym typeface="Calibri"/>
              </a:rPr>
            </a:br>
            <a:endParaRPr lang="en-US" sz="2800" dirty="0">
              <a:latin typeface="HelveticaNeueLT Std Thin Cn" panose="020B0406020202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953DA-E07A-EF40-2719-4863145BF4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027" y="3739228"/>
            <a:ext cx="4981575" cy="1893476"/>
          </a:xfrm>
        </p:spPr>
        <p:txBody>
          <a:bodyPr/>
          <a:lstStyle/>
          <a:p>
            <a:r>
              <a:rPr lang="en-ZA" sz="1400" b="1" dirty="0">
                <a:solidFill>
                  <a:schemeClr val="bg1"/>
                </a:solidFill>
              </a:rPr>
              <a:t>Nqabakazi Dyantyi</a:t>
            </a:r>
            <a:br>
              <a:rPr lang="en-ZA" sz="1400">
                <a:solidFill>
                  <a:schemeClr val="bg1"/>
                </a:solidFill>
              </a:rPr>
            </a:br>
            <a:r>
              <a:rPr lang="en-ZA" sz="1400" b="1">
                <a:solidFill>
                  <a:schemeClr val="bg1"/>
                </a:solidFill>
              </a:rPr>
              <a:t>Advanced </a:t>
            </a:r>
            <a:r>
              <a:rPr lang="en-ZA" sz="1400" b="1" dirty="0">
                <a:solidFill>
                  <a:schemeClr val="bg1"/>
                </a:solidFill>
              </a:rPr>
              <a:t>Diploma in Mathematical Sciences</a:t>
            </a:r>
            <a:br>
              <a:rPr lang="en-ZA" sz="1400" dirty="0">
                <a:solidFill>
                  <a:schemeClr val="bg1"/>
                </a:solidFill>
              </a:rPr>
            </a:br>
            <a:r>
              <a:rPr lang="en-ZA" sz="1400" b="1" dirty="0">
                <a:solidFill>
                  <a:schemeClr val="bg1"/>
                </a:solidFill>
              </a:rPr>
              <a:t>Module:</a:t>
            </a:r>
            <a:r>
              <a:rPr lang="en-ZA" sz="1400" dirty="0">
                <a:solidFill>
                  <a:schemeClr val="bg1"/>
                </a:solidFill>
              </a:rPr>
              <a:t> MSP470S - Mathematical Sciences Project 4</a:t>
            </a:r>
            <a:br>
              <a:rPr lang="en-ZA" sz="1400" dirty="0">
                <a:solidFill>
                  <a:schemeClr val="bg1"/>
                </a:solidFill>
              </a:rPr>
            </a:br>
            <a:r>
              <a:rPr lang="en-ZA" sz="1400" b="1" dirty="0">
                <a:solidFill>
                  <a:schemeClr val="bg1"/>
                </a:solidFill>
              </a:rPr>
              <a:t>Supervisor:</a:t>
            </a:r>
            <a:r>
              <a:rPr lang="en-ZA" sz="1400" dirty="0">
                <a:solidFill>
                  <a:schemeClr val="bg1"/>
                </a:solidFill>
              </a:rPr>
              <a:t> Dr T.J. Farrar</a:t>
            </a:r>
            <a:br>
              <a:rPr lang="en-ZA" sz="1400" dirty="0">
                <a:solidFill>
                  <a:schemeClr val="bg1"/>
                </a:solidFill>
              </a:rPr>
            </a:br>
            <a:r>
              <a:rPr lang="en-ZA" sz="1400" b="1" dirty="0">
                <a:solidFill>
                  <a:schemeClr val="bg1"/>
                </a:solidFill>
              </a:rPr>
              <a:t>Industry Mentor:</a:t>
            </a:r>
            <a:r>
              <a:rPr lang="en-ZA" sz="1400" dirty="0">
                <a:solidFill>
                  <a:schemeClr val="bg1"/>
                </a:solidFill>
              </a:rPr>
              <a:t> Dr M. Masango (IPD)</a:t>
            </a:r>
          </a:p>
          <a:p>
            <a:r>
              <a:rPr lang="en-ZA" sz="1400" b="1" dirty="0">
                <a:solidFill>
                  <a:schemeClr val="bg1"/>
                </a:solidFill>
              </a:rPr>
              <a:t>Date: </a:t>
            </a:r>
            <a:r>
              <a:rPr lang="en-ZA" sz="1400" dirty="0">
                <a:solidFill>
                  <a:schemeClr val="bg1"/>
                </a:solidFill>
              </a:rPr>
              <a:t>20</a:t>
            </a:r>
            <a:r>
              <a:rPr lang="en-ZA" sz="1400" b="1" dirty="0">
                <a:solidFill>
                  <a:schemeClr val="bg1"/>
                </a:solidFill>
              </a:rPr>
              <a:t> </a:t>
            </a:r>
            <a:r>
              <a:rPr lang="en-ZA" sz="1400" dirty="0">
                <a:solidFill>
                  <a:schemeClr val="bg1"/>
                </a:solidFill>
              </a:rPr>
              <a:t>November 2025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4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NeueLT Std Thin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893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62722-30A3-07A5-AA89-779D62E2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D2CA83-6F7E-F66F-AE37-89448986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  <a:t>BACKGROUND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7D750-3BEA-064E-6B56-3775D9B6DF70}"/>
              </a:ext>
            </a:extLst>
          </p:cNvPr>
          <p:cNvSpPr txBox="1"/>
          <p:nvPr/>
        </p:nvSpPr>
        <p:spPr>
          <a:xfrm>
            <a:off x="393192" y="758953"/>
            <a:ext cx="6708253" cy="40659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2000" b="1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2000" b="1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2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Graduate Destination Surveys (GDS) Importance: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Track employment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further study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  early career outcomes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Support institutional planning  and curriculum relevance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14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2997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31A3E-6B42-568F-49DC-398E3882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C7F8-EE8C-36AA-5969-49E9A997F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  <a:t>BACKGROUND (cont.)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216108-2108-4144-EFE0-1B81691A96AC}"/>
              </a:ext>
            </a:extLst>
          </p:cNvPr>
          <p:cNvSpPr txBox="1"/>
          <p:nvPr/>
        </p:nvSpPr>
        <p:spPr>
          <a:xfrm>
            <a:off x="466344" y="758953"/>
            <a:ext cx="6635101" cy="29959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2000" b="1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2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Issues at CPUT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Unclear questions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No validation or logic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Inconsistent responses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Weak data quality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14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5113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B9A06-7A5E-B10F-63D5-AF3952E27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4B5D83E-6127-F36A-10D4-4BF4CAC7C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  <a:t>BACKGROUND (cont.)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5DCCD-2906-9980-0F61-8FFBEE065558}"/>
              </a:ext>
            </a:extLst>
          </p:cNvPr>
          <p:cNvSpPr txBox="1"/>
          <p:nvPr/>
        </p:nvSpPr>
        <p:spPr>
          <a:xfrm>
            <a:off x="246888" y="758953"/>
            <a:ext cx="6854557" cy="22140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2000" b="1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2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Need for Redesign &amp; Dashboard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Improve data quality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Modernise reporting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Enable real-time insights</a:t>
            </a:r>
          </a:p>
        </p:txBody>
      </p:sp>
    </p:spTree>
    <p:extLst>
      <p:ext uri="{BB962C8B-B14F-4D97-AF65-F5344CB8AC3E}">
        <p14:creationId xmlns:p14="http://schemas.microsoft.com/office/powerpoint/2010/main" val="17714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3941-2266-20CF-C930-94A8E928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DA9E25-6DA5-B023-04A4-69E31F62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123912"/>
            <a:ext cx="7681878" cy="891201"/>
          </a:xfrm>
        </p:spPr>
        <p:txBody>
          <a:bodyPr>
            <a:noAutofit/>
          </a:bodyPr>
          <a:lstStyle/>
          <a:p>
            <a:pPr algn="ctr"/>
            <a:br>
              <a:rPr lang="en-ZA" sz="2800" b="1" dirty="0">
                <a:solidFill>
                  <a:srgbClr val="003366"/>
                </a:solidFill>
                <a:latin typeface="Aptos Display" panose="02110004020202020204"/>
                <a:ea typeface="Arial" charset="0"/>
                <a:cs typeface="+mj-cs"/>
              </a:rPr>
            </a:br>
            <a:r>
              <a:rPr lang="en-ZA" sz="2800" b="1" dirty="0">
                <a:solidFill>
                  <a:srgbClr val="003366"/>
                </a:solidFill>
                <a:latin typeface="Aptos Display" panose="02110004020202020204"/>
                <a:ea typeface="Arial" charset="0"/>
                <a:cs typeface="+mj-cs"/>
              </a:rPr>
              <a:t>OBJECTIVES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A344287-4256-8483-F1D8-172795B962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3080094"/>
              </p:ext>
            </p:extLst>
          </p:nvPr>
        </p:nvGraphicFramePr>
        <p:xfrm>
          <a:off x="502256" y="855024"/>
          <a:ext cx="1647178" cy="2002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6548348F-8903-F744-23CF-B4313A4C68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9963616"/>
              </p:ext>
            </p:extLst>
          </p:nvPr>
        </p:nvGraphicFramePr>
        <p:xfrm>
          <a:off x="192024" y="855023"/>
          <a:ext cx="6757416" cy="3625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832414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DE788-EDC0-AC56-A334-EA8E0260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C7525E-AB46-A9E3-7144-4DBC9602C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0DA5A7F-CC15-7237-1865-D63836ADD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5696572"/>
              </p:ext>
            </p:extLst>
          </p:nvPr>
        </p:nvGraphicFramePr>
        <p:xfrm>
          <a:off x="438912" y="0"/>
          <a:ext cx="6437376" cy="4608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29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E9E6-AEF5-630A-D5C2-C91DC3E8E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F20577E-F042-3850-3400-1E0FE6986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ZA" sz="2800" b="1" dirty="0">
                <a:solidFill>
                  <a:srgbClr val="003366"/>
                </a:solidFill>
                <a:latin typeface="Aptos Display" panose="02110004020202020204"/>
                <a:ea typeface="Arial" charset="0"/>
                <a:cs typeface="+mj-cs"/>
              </a:rPr>
              <a:t>METHODOLOGY OVERVIEW 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D94E8-D69B-CE51-DACA-165BF183C819}"/>
              </a:ext>
            </a:extLst>
          </p:cNvPr>
          <p:cNvSpPr txBox="1"/>
          <p:nvPr/>
        </p:nvSpPr>
        <p:spPr>
          <a:xfrm>
            <a:off x="420624" y="731520"/>
            <a:ext cx="6044184" cy="383104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Data Sources: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Historical GDS dataset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 Pilot survey (Microsoft Forms)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Tools Used: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Excel (cleaning)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 R (visualizations)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Power BI (dashboard development)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Workflow: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Data cleaning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Pilot testing 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Analysis 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Dashboard development </a:t>
            </a:r>
          </a:p>
        </p:txBody>
      </p:sp>
    </p:spTree>
    <p:extLst>
      <p:ext uri="{BB962C8B-B14F-4D97-AF65-F5344CB8AC3E}">
        <p14:creationId xmlns:p14="http://schemas.microsoft.com/office/powerpoint/2010/main" val="69594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ED377-7F05-5BA3-7A31-E8B67C639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033832-C04C-4FAC-B54A-7FCF70E9E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ZA" sz="2800" b="1" dirty="0">
                <a:solidFill>
                  <a:srgbClr val="003366"/>
                </a:solidFill>
                <a:latin typeface="Aptos Display" panose="02110004020202020204"/>
                <a:ea typeface="Arial" charset="0"/>
                <a:cs typeface="+mj-cs"/>
              </a:rPr>
              <a:t>HISTORICAL DATASET (CLEANED) 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545982-B6ED-F382-665C-9FF955764DA5}"/>
              </a:ext>
            </a:extLst>
          </p:cNvPr>
          <p:cNvSpPr txBox="1"/>
          <p:nvPr/>
        </p:nvSpPr>
        <p:spPr>
          <a:xfrm>
            <a:off x="475013" y="731520"/>
            <a:ext cx="6151418" cy="425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6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Original dataset: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6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2,491 records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6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68 variables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6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Included non-target respondents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6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After cleaning: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6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1,736 valid graduate records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6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19 relevant variables(removed variables like 34 Likert-scale items)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6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All records verified against HEMIS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6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Issues found: unclear wording, inconsistent responses, missing values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6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Outcome: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6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This dataset guided the redesign of the new GDS instrument.</a:t>
            </a:r>
          </a:p>
        </p:txBody>
      </p:sp>
    </p:spTree>
    <p:extLst>
      <p:ext uri="{BB962C8B-B14F-4D97-AF65-F5344CB8AC3E}">
        <p14:creationId xmlns:p14="http://schemas.microsoft.com/office/powerpoint/2010/main" val="1888589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8033D-4A0A-0AFF-3E1D-E55438A58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F8A41E8-B29C-DFA4-EEA1-7C02254F5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  <a:t>PILOT DATASET (REDESIGNED GDS) ​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AD4608-C7F2-ACF3-E4D3-4AB6CD24EB54}"/>
              </a:ext>
            </a:extLst>
          </p:cNvPr>
          <p:cNvSpPr txBox="1"/>
          <p:nvPr/>
        </p:nvSpPr>
        <p:spPr>
          <a:xfrm>
            <a:off x="475013" y="731520"/>
            <a:ext cx="6151418" cy="3154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defTabSz="1097280" fontAlgn="auto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16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E508E2-BF96-0AA1-E0F7-222C1D33AF46}"/>
              </a:ext>
            </a:extLst>
          </p:cNvPr>
          <p:cNvSpPr txBox="1"/>
          <p:nvPr/>
        </p:nvSpPr>
        <p:spPr>
          <a:xfrm>
            <a:off x="475013" y="868680"/>
            <a:ext cx="6353269" cy="4128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600" b="1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Original dataset: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  <a:endParaRPr lang="en-US" sz="16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b="0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Pilot survey: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en-ZA" sz="1400" b="0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Conducted using Microsoft Forms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en-ZA" sz="1400" b="0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19 graduate responses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 algn="l" rtl="0" fontAlgn="base">
              <a:buFont typeface="Courier New" panose="02070309020205020404" pitchFamily="49" charset="0"/>
              <a:buChar char="o"/>
            </a:pPr>
            <a:r>
              <a:rPr lang="en-ZA" sz="1400" b="0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Tested logic, clarity, validation, and flow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None/>
            </a:pPr>
            <a:r>
              <a:rPr lang="en-ZA" sz="11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  <a:endParaRPr lang="en-ZA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endParaRPr lang="en-ZA" sz="1600" b="1" i="0" u="none" strike="noStrike" dirty="0">
              <a:solidFill>
                <a:srgbClr val="163E64"/>
              </a:solidFill>
              <a:effectLst/>
              <a:latin typeface="Aptos" panose="020B0004020202020204" pitchFamily="34" charset="0"/>
            </a:endParaRPr>
          </a:p>
          <a:p>
            <a:pPr algn="l" rtl="0" fontAlgn="base">
              <a:buNone/>
            </a:pPr>
            <a:endParaRPr lang="en-ZA" sz="1600" b="1" dirty="0">
              <a:solidFill>
                <a:srgbClr val="163E64"/>
              </a:solidFill>
              <a:latin typeface="Aptos" panose="020B0004020202020204" pitchFamily="34" charset="0"/>
            </a:endParaRPr>
          </a:p>
          <a:p>
            <a:pPr algn="l" rtl="0" fontAlgn="base">
              <a:buNone/>
            </a:pPr>
            <a:r>
              <a:rPr lang="en-ZA" sz="1600" b="1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Variables included: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>
              <a:buNone/>
            </a:pPr>
            <a:endParaRPr lang="en-ZA" sz="2000" b="1" i="0" u="none" strike="noStrike" dirty="0">
              <a:solidFill>
                <a:srgbClr val="163E64"/>
              </a:solidFill>
              <a:effectLst/>
              <a:latin typeface="Aptos" panose="020B0004020202020204" pitchFamily="34" charset="0"/>
            </a:endParaRPr>
          </a:p>
          <a:p>
            <a:pPr algn="l" rtl="0" fontAlgn="base">
              <a:buNone/>
            </a:pPr>
            <a:endParaRPr lang="en-ZA" sz="2000" b="1" i="0" u="none" strike="noStrike" dirty="0">
              <a:solidFill>
                <a:srgbClr val="163E64"/>
              </a:solidFill>
              <a:effectLst/>
              <a:latin typeface="Aptos" panose="020B0004020202020204" pitchFamily="34" charset="0"/>
            </a:endParaRPr>
          </a:p>
          <a:p>
            <a:pPr algn="l" rtl="0" fontAlgn="base">
              <a:buNone/>
            </a:pPr>
            <a:r>
              <a:rPr lang="en-ZA" sz="1600" b="1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Outcome: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​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ZA" sz="1400" b="0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Provided clean early data for dashboard development </a:t>
            </a:r>
          </a:p>
          <a:p>
            <a:pPr algn="l" rtl="0" fontAlgn="base"/>
            <a:r>
              <a:rPr lang="en-ZA" sz="1400" b="0" i="0" u="none" strike="noStrike" dirty="0">
                <a:solidFill>
                  <a:srgbClr val="163E64"/>
                </a:solidFill>
                <a:effectLst/>
                <a:latin typeface="Aptos" panose="020B0004020202020204" pitchFamily="34" charset="0"/>
              </a:rPr>
              <a:t>and validation.</a:t>
            </a:r>
            <a:endParaRPr lang="en-US" sz="16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lang="en-ZA" sz="14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14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0249572-31EC-EA88-BAA0-DEEB7D0915D4}"/>
              </a:ext>
            </a:extLst>
          </p:cNvPr>
          <p:cNvSpPr/>
          <p:nvPr/>
        </p:nvSpPr>
        <p:spPr>
          <a:xfrm>
            <a:off x="2408966" y="2437534"/>
            <a:ext cx="2622369" cy="857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695BD2-0BE5-F7B3-90A1-EFA0BF090D76}"/>
              </a:ext>
            </a:extLst>
          </p:cNvPr>
          <p:cNvSpPr/>
          <p:nvPr/>
        </p:nvSpPr>
        <p:spPr>
          <a:xfrm>
            <a:off x="5183261" y="1545963"/>
            <a:ext cx="2886340" cy="3588443"/>
          </a:xfrm>
          <a:prstGeom prst="rect">
            <a:avLst/>
          </a:prstGeom>
          <a:solidFill>
            <a:srgbClr val="CCE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56616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13232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69848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426464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83080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139696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96312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852928" algn="l" defTabSz="713232" rtl="0" eaLnBrk="1" latinLnBrk="0" hangingPunct="1">
              <a:defRPr sz="140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000000"/>
                </a:solidFill>
              </a:rPr>
              <a:t>New GDS</a:t>
            </a:r>
            <a:r>
              <a:rPr lang="en-US" sz="1600" b="1" dirty="0">
                <a:solidFill>
                  <a:srgbClr val="000000"/>
                </a:solidFill>
              </a:rPr>
              <a:t> Tool</a:t>
            </a:r>
            <a:r>
              <a:rPr sz="1600" b="1" dirty="0">
                <a:solidFill>
                  <a:srgbClr val="000000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>
                <a:solidFill>
                  <a:srgbClr val="000000"/>
                </a:solidFill>
              </a:rPr>
              <a:t>New themes</a:t>
            </a:r>
            <a:r>
              <a:rPr lang="en-ZA" sz="1600" b="0" dirty="0">
                <a:solidFill>
                  <a:srgbClr val="000000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ZA" sz="1600" dirty="0">
                <a:solidFill>
                  <a:srgbClr val="000000"/>
                </a:solidFill>
              </a:rPr>
              <a:t>S</a:t>
            </a:r>
            <a:r>
              <a:rPr lang="en-ZA" sz="1600" b="0" dirty="0">
                <a:solidFill>
                  <a:srgbClr val="000000"/>
                </a:solidFill>
              </a:rPr>
              <a:t>alary bands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ZA" sz="1600" dirty="0">
                <a:solidFill>
                  <a:srgbClr val="000000"/>
                </a:solidFill>
              </a:rPr>
              <a:t>J</a:t>
            </a:r>
            <a:r>
              <a:rPr lang="en-ZA" sz="1600" b="0" dirty="0">
                <a:solidFill>
                  <a:srgbClr val="000000"/>
                </a:solidFill>
              </a:rPr>
              <a:t>ob relevance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ZA" sz="1600" dirty="0">
                <a:solidFill>
                  <a:srgbClr val="000000"/>
                </a:solidFill>
              </a:rPr>
              <a:t>Ti</a:t>
            </a:r>
            <a:r>
              <a:rPr lang="en-ZA" sz="1600" b="0" dirty="0">
                <a:solidFill>
                  <a:srgbClr val="000000"/>
                </a:solidFill>
              </a:rPr>
              <a:t>me-to-employment</a:t>
            </a:r>
            <a:endParaRPr lang="en-ZA" sz="1600" dirty="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ZA" sz="1600" b="0" dirty="0">
                <a:solidFill>
                  <a:srgbClr val="000000"/>
                </a:solidFill>
              </a:rPr>
              <a:t> Reasons for unemployment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ZA" sz="1600" b="0" dirty="0">
                <a:solidFill>
                  <a:srgbClr val="000000"/>
                </a:solidFill>
              </a:rPr>
              <a:t>WIL satisfaction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ZA" sz="1600" b="0" dirty="0">
                <a:solidFill>
                  <a:srgbClr val="000000"/>
                </a:solidFill>
              </a:rPr>
              <a:t>further study details</a:t>
            </a:r>
          </a:p>
        </p:txBody>
      </p:sp>
    </p:spTree>
    <p:extLst>
      <p:ext uri="{BB962C8B-B14F-4D97-AF65-F5344CB8AC3E}">
        <p14:creationId xmlns:p14="http://schemas.microsoft.com/office/powerpoint/2010/main" val="195920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4626E-FAEE-18E7-82B0-6ED76758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A976DE8-3DA2-4192-B989-EDC6A963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445829" cy="893619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Arial" panose="020B0604020202020204" pitchFamily="34" charset="0"/>
              </a:rPr>
              <a:t>Results &amp; Discussion </a:t>
            </a:r>
            <a:b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Arial" panose="020B0604020202020204" pitchFamily="34" charset="0"/>
              </a:rPr>
            </a:b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Arial" panose="020B0604020202020204" pitchFamily="34" charset="0"/>
              </a:rPr>
              <a:t>Pilot Survey Highlights</a:t>
            </a:r>
            <a:br>
              <a:rPr lang="en-GB" sz="2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400" dirty="0">
                <a:latin typeface="Arial" charset="0"/>
                <a:ea typeface="Arial" charset="0"/>
                <a:cs typeface="Arial" charset="0"/>
              </a:rPr>
            </a:br>
            <a:endParaRPr lang="en-US" sz="24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21BCCA3-C774-5A7A-2DC8-134F5CBA27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4981869"/>
              </p:ext>
            </p:extLst>
          </p:nvPr>
        </p:nvGraphicFramePr>
        <p:xfrm>
          <a:off x="78997" y="1402903"/>
          <a:ext cx="7264484" cy="33093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FEF8B0-954B-FEA7-6B82-C8C0CF0D268E}"/>
              </a:ext>
            </a:extLst>
          </p:cNvPr>
          <p:cNvSpPr txBox="1"/>
          <p:nvPr/>
        </p:nvSpPr>
        <p:spPr>
          <a:xfrm>
            <a:off x="815759" y="1002792"/>
            <a:ext cx="5893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1. WIL Participation Levels:</a:t>
            </a:r>
          </a:p>
        </p:txBody>
      </p:sp>
    </p:spTree>
    <p:extLst>
      <p:ext uri="{BB962C8B-B14F-4D97-AF65-F5344CB8AC3E}">
        <p14:creationId xmlns:p14="http://schemas.microsoft.com/office/powerpoint/2010/main" val="2202567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0B3D6-1B24-176D-F80A-816E0DB5D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11E0687-C22C-2842-BE79-0AEAA931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96" y="275163"/>
            <a:ext cx="7366833" cy="618456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Arial" panose="020B0604020202020204" pitchFamily="34" charset="0"/>
              </a:rPr>
              <a:t>Pilot Survey Highlights</a:t>
            </a:r>
            <a:br>
              <a:rPr lang="en-GB" sz="2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400" dirty="0">
                <a:latin typeface="Arial" charset="0"/>
                <a:ea typeface="Arial" charset="0"/>
                <a:cs typeface="Arial" charset="0"/>
              </a:rPr>
            </a:br>
            <a:endParaRPr lang="en-US" sz="24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BBE2B8B-0F66-9B05-3A3B-616018EB3A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7321876"/>
              </p:ext>
            </p:extLst>
          </p:nvPr>
        </p:nvGraphicFramePr>
        <p:xfrm>
          <a:off x="815758" y="1512076"/>
          <a:ext cx="6490016" cy="3314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A87FB3-FA34-9BB0-FA5E-F8FB46D3EACE}"/>
              </a:ext>
            </a:extLst>
          </p:cNvPr>
          <p:cNvSpPr txBox="1"/>
          <p:nvPr/>
        </p:nvSpPr>
        <p:spPr>
          <a:xfrm>
            <a:off x="815759" y="1002792"/>
            <a:ext cx="5893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2. WIL Satisfaction Levels:</a:t>
            </a:r>
          </a:p>
        </p:txBody>
      </p:sp>
    </p:spTree>
    <p:extLst>
      <p:ext uri="{BB962C8B-B14F-4D97-AF65-F5344CB8AC3E}">
        <p14:creationId xmlns:p14="http://schemas.microsoft.com/office/powerpoint/2010/main" val="2906671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861F3-DBEE-D1FD-0634-BBEEEAAD3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99D8F36-9B09-2CC6-4BDD-509DEA4E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96" y="275163"/>
            <a:ext cx="7366833" cy="618456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Display" panose="02110004020202020204"/>
                <a:ea typeface="+mj-ea"/>
                <a:cs typeface="Arial" panose="020B0604020202020204" pitchFamily="34" charset="0"/>
              </a:rPr>
              <a:t>Pilot Survey Highlights</a:t>
            </a:r>
            <a:br>
              <a:rPr lang="en-GB" sz="24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400" dirty="0">
                <a:latin typeface="Arial" charset="0"/>
                <a:ea typeface="Arial" charset="0"/>
                <a:cs typeface="Arial" charset="0"/>
              </a:rPr>
            </a:br>
            <a:endParaRPr lang="en-US" sz="24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B2413AC-F63A-A714-5205-4B54832FEB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8459718"/>
              </p:ext>
            </p:extLst>
          </p:nvPr>
        </p:nvGraphicFramePr>
        <p:xfrm>
          <a:off x="989814" y="1402902"/>
          <a:ext cx="6353666" cy="3418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240058-A51C-BF2E-E5EB-C074BCAD5489}"/>
              </a:ext>
            </a:extLst>
          </p:cNvPr>
          <p:cNvSpPr txBox="1"/>
          <p:nvPr/>
        </p:nvSpPr>
        <p:spPr>
          <a:xfrm>
            <a:off x="815759" y="1002792"/>
            <a:ext cx="5893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GB" dirty="0"/>
              <a:t>3. CPUT Satisfaction Levels:</a:t>
            </a:r>
          </a:p>
        </p:txBody>
      </p:sp>
    </p:spTree>
    <p:extLst>
      <p:ext uri="{BB962C8B-B14F-4D97-AF65-F5344CB8AC3E}">
        <p14:creationId xmlns:p14="http://schemas.microsoft.com/office/powerpoint/2010/main" val="2520035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8628E-8B1D-81A6-E5A7-FCB33848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B195702-D031-F1C0-7E76-F4AA73BBA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  <a:t>Dashboard Insights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717C1-0362-A406-C745-F578C03D554A}"/>
              </a:ext>
            </a:extLst>
          </p:cNvPr>
          <p:cNvSpPr txBox="1"/>
          <p:nvPr/>
        </p:nvSpPr>
        <p:spPr>
          <a:xfrm>
            <a:off x="630936" y="1408176"/>
            <a:ext cx="6722683" cy="29860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 Figures from Power BI: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Response Rate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Employment Status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Salary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Sector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Further Studies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WIL &amp; CPUT Satisfaction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Qualification vs Employment</a:t>
            </a:r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 1">
                <a:extLst>
                  <a:ext uri="{FF2B5EF4-FFF2-40B4-BE49-F238E27FC236}">
                    <a16:creationId xmlns:a16="http://schemas.microsoft.com/office/drawing/2014/main" id="{C6714E03-6056-C795-2661-AA4FBCBB046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-190500" y="0"/>
              <a:ext cx="9525000" cy="5715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 1">
                <a:extLst>
                  <a:ext uri="{FF2B5EF4-FFF2-40B4-BE49-F238E27FC236}">
                    <a16:creationId xmlns:a16="http://schemas.microsoft.com/office/drawing/2014/main" id="{C6714E03-6056-C795-2661-AA4FBCBB046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0500" y="0"/>
                <a:ext cx="9525000" cy="57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7725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BED78-C2DE-E9F6-33FB-7E02DEA6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8E08E7E-80F2-FDD1-12D7-94FA5A98F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2"/>
            <a:ext cx="7681878" cy="1035163"/>
          </a:xfrm>
        </p:spPr>
        <p:txBody>
          <a:bodyPr>
            <a:noAutofit/>
          </a:bodyPr>
          <a:lstStyle/>
          <a:p>
            <a:pPr algn="ctr"/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  <a:t>Limitations 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9E2EBE-76B6-8256-8C27-43FC1E841C6E}"/>
              </a:ext>
            </a:extLst>
          </p:cNvPr>
          <p:cNvSpPr txBox="1"/>
          <p:nvPr/>
        </p:nvSpPr>
        <p:spPr>
          <a:xfrm>
            <a:off x="207391" y="1310325"/>
            <a:ext cx="7150626" cy="32281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18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Only 19 responses, limiting generalisability.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Sample too small for inferential statistics or reliability testing.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2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 Findings remain preliminary pending full-scale rollout.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lang="en-ZA" sz="24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18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95648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D06BC-C188-0F8A-3EBE-4A07F587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B4CD976-4CFB-89A3-6601-31C91D602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2"/>
            <a:ext cx="7681878" cy="1035163"/>
          </a:xfrm>
        </p:spPr>
        <p:txBody>
          <a:bodyPr>
            <a:noAutofit/>
          </a:bodyPr>
          <a:lstStyle/>
          <a:p>
            <a:pPr algn="ctr"/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  <a:t>Conclusion &amp; Recommendations</a:t>
            </a:r>
            <a:b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ea typeface="Arial" charset="0"/>
                <a:cs typeface="+mj-cs"/>
              </a:rPr>
            </a:br>
            <a:br>
              <a:rPr lang="en-US" sz="2800" dirty="0">
                <a:latin typeface="Arial" charset="0"/>
                <a:ea typeface="Arial" charset="0"/>
                <a:cs typeface="Arial" charset="0"/>
              </a:rPr>
            </a:b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5B393-1D3F-03A2-DCB8-DA992BC7E447}"/>
              </a:ext>
            </a:extLst>
          </p:cNvPr>
          <p:cNvSpPr txBox="1"/>
          <p:nvPr/>
        </p:nvSpPr>
        <p:spPr>
          <a:xfrm>
            <a:off x="565609" y="1159497"/>
            <a:ext cx="6338110" cy="323530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Redesigned GDS improves clarity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Dashboard enables real-time insights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ZA" sz="1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Recommendations: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Full rollout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 Annual GDS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Strengthen WIL partnerships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Link GDS to HEMIS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8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Update dashboard   adding  relevant variables such as school quantiles </a:t>
            </a:r>
          </a:p>
        </p:txBody>
      </p:sp>
    </p:spTree>
    <p:extLst>
      <p:ext uri="{BB962C8B-B14F-4D97-AF65-F5344CB8AC3E}">
        <p14:creationId xmlns:p14="http://schemas.microsoft.com/office/powerpoint/2010/main" val="3188191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2CAAD-A6FD-FE2D-1B73-7CC1F92D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D82182-3D7E-BDCD-B7CF-96884769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cs typeface="+mj-cs"/>
              </a:rPr>
              <a:t>References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C7510-009F-FED3-DDD3-40114351197A}"/>
              </a:ext>
            </a:extLst>
          </p:cNvPr>
          <p:cNvSpPr txBox="1"/>
          <p:nvPr/>
        </p:nvSpPr>
        <p:spPr>
          <a:xfrm>
            <a:off x="457200" y="749808"/>
            <a:ext cx="6446519" cy="344530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Addo, P.K., Okrah, M.K., Adusei, A. &amp; Owusu-Antwi, C., 2021. A graduate exit survey in a Ghanaian university: Implications for graduate education. Ghana Journal of Higher Education, 7, pp.50–60. Available at: https://www.researchgate.net/publication/351023890.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Aithal, A. &amp; Aithal, P.S., 2020. Development and Validation of Survey Questionnaire &amp; Experimental Data – A Systematically Review-based Statistical Approach. Srinivas University, India. Available at: https://www.researchgate.net/publication/345678901 [Accessed 20 Sep 2025].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Dillman, D.A., Smyth, J.D. &amp; Christian, L.M., 2014. Internet, Phone, Mail and Mixed-Mode Surveys: The Tailored Design Method. 4th ed. Hoboken, NJ: Wiley.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Farrar, T., Statistics 2B Lecture Notes. Faculty of Applied Sciences, Department of Mathematics and Physics, Cape Peninsula University of Technology. [Unpublished textbook].</a:t>
            </a:r>
          </a:p>
          <a:p>
            <a:pPr marR="0" lvl="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ZA" sz="900" dirty="0">
              <a:solidFill>
                <a:srgbClr val="0E2841">
                  <a:lumMod val="90000"/>
                  <a:lumOff val="10000"/>
                </a:srgbClr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01178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BD2D-B3D0-8014-BF0B-900B3B957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280CB43-F98D-8B61-20AF-F7E68211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0788" y="275163"/>
            <a:ext cx="7681878" cy="739950"/>
          </a:xfrm>
        </p:spPr>
        <p:txBody>
          <a:bodyPr>
            <a:noAutofit/>
          </a:bodyPr>
          <a:lstStyle/>
          <a:p>
            <a:pPr algn="ctr"/>
            <a:r>
              <a:rPr lang="en-GB" sz="2800" b="1" dirty="0">
                <a:solidFill>
                  <a:srgbClr val="0E2841">
                    <a:lumMod val="90000"/>
                    <a:lumOff val="10000"/>
                  </a:srgbClr>
                </a:solidFill>
                <a:latin typeface="Aptos Display" panose="02110004020202020204"/>
                <a:cs typeface="+mj-cs"/>
              </a:rPr>
              <a:t>References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F80C7-300B-A2A0-3B1C-17307FBD9546}"/>
              </a:ext>
            </a:extLst>
          </p:cNvPr>
          <p:cNvSpPr txBox="1"/>
          <p:nvPr/>
        </p:nvSpPr>
        <p:spPr>
          <a:xfrm>
            <a:off x="457200" y="749808"/>
            <a:ext cx="6446519" cy="37746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Lessky, F. &amp; Dollinger, M., 2025. An international comparison of graduate outcome survey instruments: A critical reflection. Journal of Higher Education Policy and Management. Available at: https://doi.org/10.1080/1360080X.2025.2491884.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Meier, F.L., Jäger, L., Senn, O., Markun, S. &amp; Burgstaller, J.M., 2025. Effectiveness of interactive dashboards as audit and feedback tools in primary care: A systematic review. PLOS ONE, 20(6), e0327350. Available at: https://doi.org/10.1371/journal.pone.0327350.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Saifuddin, K., 2024. Advanced SAP Data Analytics using Microsoft Power BI. International Journal of Leading Research Publication (IJLRP), 5(8), pp.1–6. Available at: https://www.ijlrp.com/papers/2024/8/1359.pdf [Accessed 15 November 2025].</a:t>
            </a:r>
          </a:p>
          <a:p>
            <a:pPr marL="285750" marR="0" lvl="0" indent="-285750" defTabSz="91440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ZA" sz="1400" dirty="0">
                <a:solidFill>
                  <a:srgbClr val="0E2841">
                    <a:lumMod val="90000"/>
                    <a:lumOff val="10000"/>
                  </a:srgbClr>
                </a:solidFill>
                <a:latin typeface="Aptos" panose="02110004020202020204"/>
              </a:rPr>
              <a:t>Schwendimann, B.A., et al., 2023. A Checklist to Guide the Planning, Designing, Implementation, and Evaluation of Learning Analytics Dashboards. Educational Technology Journal. Available at: https://educationaltechnologyjournal.springeropen.com/articles/10.1186/s41239-023-00394-6 [Accessed 20 Sep 2025].</a:t>
            </a:r>
          </a:p>
        </p:txBody>
      </p:sp>
    </p:spTree>
    <p:extLst>
      <p:ext uri="{BB962C8B-B14F-4D97-AF65-F5344CB8AC3E}">
        <p14:creationId xmlns:p14="http://schemas.microsoft.com/office/powerpoint/2010/main" val="2997229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F0C18-C446-D333-EB9A-4073B396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4E98-5BD0-8DF0-55DA-DABA90326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27" y="2857500"/>
            <a:ext cx="4284973" cy="1734428"/>
          </a:xfrm>
        </p:spPr>
        <p:txBody>
          <a:bodyPr/>
          <a:lstStyle/>
          <a:p>
            <a:pPr hangingPunct="1">
              <a:lnSpc>
                <a:spcPct val="100000"/>
              </a:lnSpc>
            </a:pPr>
            <a:r>
              <a:rPr lang="en-GB" sz="4800" b="1" dirty="0">
                <a:latin typeface="HelveticaNeueLT Std Med Cn" panose="020B0604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Calibri"/>
              </a:rPr>
              <a:t>Thank</a:t>
            </a:r>
            <a:br>
              <a:rPr lang="en-GB" sz="4800" b="1" dirty="0">
                <a:latin typeface="HelveticaNeueLT Std Med Cn" panose="020B0604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Calibri"/>
              </a:rPr>
            </a:br>
            <a:r>
              <a:rPr lang="en-GB" sz="4800" b="1" dirty="0">
                <a:latin typeface="HelveticaNeueLT Std Med Cn" panose="020B0604020202020204" pitchFamily="34" charset="0"/>
                <a:ea typeface="Cambria" panose="02040503050406030204" pitchFamily="18" charset="0"/>
                <a:cs typeface="Calibri" panose="020F0502020204030204" pitchFamily="34" charset="0"/>
                <a:sym typeface="Calibri"/>
              </a:rPr>
              <a:t>You</a:t>
            </a:r>
            <a:br>
              <a:rPr lang="en-GB" sz="2400" dirty="0">
                <a:latin typeface="HelveticaNeueLT Std Thin Cn" panose="020B0406020202030204" pitchFamily="34" charset="0"/>
                <a:ea typeface="Cambria" panose="02040503050406030204" pitchFamily="18" charset="0"/>
                <a:cs typeface="Calibri" panose="020F0502020204030204" pitchFamily="34" charset="0"/>
                <a:sym typeface="Calibri"/>
              </a:rPr>
            </a:br>
            <a:endParaRPr lang="en-US" sz="2400" dirty="0">
              <a:latin typeface="HelveticaNeueLT Std Thin Cn" panose="020B04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274512"/>
      </p:ext>
    </p:extLst>
  </p:cSld>
  <p:clrMapOvr>
    <a:masterClrMapping/>
  </p:clrMapOvr>
</p:sld>
</file>

<file path=ppt/theme/theme1.xml><?xml version="1.0" encoding="utf-8"?>
<a:theme xmlns:a="http://schemas.openxmlformats.org/drawingml/2006/main" name="20 YEAR COVER SLIDE">
  <a:themeElements>
    <a:clrScheme name="CPUT V203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8FC5"/>
      </a:accent1>
      <a:accent2>
        <a:srgbClr val="004775"/>
      </a:accent2>
      <a:accent3>
        <a:srgbClr val="83CBD3"/>
      </a:accent3>
      <a:accent4>
        <a:srgbClr val="00A3DA"/>
      </a:accent4>
      <a:accent5>
        <a:srgbClr val="B4B5B4"/>
      </a:accent5>
      <a:accent6>
        <a:srgbClr val="4C4D4C"/>
      </a:accent6>
      <a:hlink>
        <a:srgbClr val="D8117D"/>
      </a:hlink>
      <a:folHlink>
        <a:srgbClr val="84B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20 YEAR SLIDE BG">
  <a:themeElements>
    <a:clrScheme name="CPUT V203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8FC5"/>
      </a:accent1>
      <a:accent2>
        <a:srgbClr val="004775"/>
      </a:accent2>
      <a:accent3>
        <a:srgbClr val="83CBD3"/>
      </a:accent3>
      <a:accent4>
        <a:srgbClr val="00A3DA"/>
      </a:accent4>
      <a:accent5>
        <a:srgbClr val="B4B5B4"/>
      </a:accent5>
      <a:accent6>
        <a:srgbClr val="4C4D4C"/>
      </a:accent6>
      <a:hlink>
        <a:srgbClr val="D8117D"/>
      </a:hlink>
      <a:folHlink>
        <a:srgbClr val="84B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20 YEAR SLIDE BG">
  <a:themeElements>
    <a:clrScheme name="CPUT V203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8FC5"/>
      </a:accent1>
      <a:accent2>
        <a:srgbClr val="004775"/>
      </a:accent2>
      <a:accent3>
        <a:srgbClr val="83CBD3"/>
      </a:accent3>
      <a:accent4>
        <a:srgbClr val="00A3DA"/>
      </a:accent4>
      <a:accent5>
        <a:srgbClr val="B4B5B4"/>
      </a:accent5>
      <a:accent6>
        <a:srgbClr val="4C4D4C"/>
      </a:accent6>
      <a:hlink>
        <a:srgbClr val="D8117D"/>
      </a:hlink>
      <a:folHlink>
        <a:srgbClr val="84BE4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3A0D4318-EBDE-48BC-9BE9-73CEAAB7E82B}">
  <we:reference id="wa200003233" version="2.0.0.3" store="en-GB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XTW/UMBD9K8gXLiuUDyfr9NZuCxdApVtVQghVE3uydeuNI8dpWar974ydBQosIPG1lcotmZmM573nGce3TOm+M7B6CUtke+zA2qsluKtHKZuwdrQJUUlELKFKE5FjOS1zQV7beW3bnu3dMg9ugf5M9wOYkIiMb95OGBhzDIvw1oDpccI6dL1twej3OAaTy7sB1xOG7zpjHYSUcw8eQ9prCqd3KiF9kha0JEivr3GO0o9mxYHLOquTQnAEVaZlNqWwfgyIpW0NCbnj+jPbetAtrRNsVSo5SF7VIskSXnBRZXWwN9r4TUi9OnrXOYJHoFddYGdfXUMrUbGIwWE/lnzLXiD0g4tAjr5wzO3gJJ5gE12t135FeQ73T/fZmpg4dpZ4irZT68Gcn2Df2VZh6/sYcGFvZg6JI8X2kvVbsvS6XZgNpZ/BnY4FLmBYYCBv8HaOhrg5u+PeKGPrS3IEiJTOOoXuYBVRHmr3ke5s8hWQv4SQIFEQcJ6IpuJimkqEIqnTpvqpGDNiZWGdlsTD13rMrBmW7e8U+wypRvcrGvRGS/ryLs9sidQ0cYuChwiiG5fSOPqtim6MGG/Zc024x9xnYIaQ9vEB9Fo+Dpx9ZC12CNV8eacHYngfl/iDJNB65KkrIYpmmmWyrGtVTIVsyh3LdAISH7hIGwo2EhWJSCUJJAFELqbZFJOQ4Ydk6CXEqXFnMIRcKWIqsiJv8pwngAqVFLvuSgdqiAfH+WuEe9Weh/SFsjftP+7QbwgZ94GiKVphLpqyzJqGznNosh1r9xTkYOjpwWv2mYhRK+QJT1MSq1RFLjik9AezY61eEfe6oeRxZ0UVHrxsWznZTF2RFEUNPGlKKVOAQuXTHSs4lxfWmnMqmqLMf/m2EDJql3NQCZZchGkJkIUD9N5fBCb3f2Z3GmcX4Dy7bxeO72y2DZGrvzLk407b1kZ28H1HP3DH0OKWdiI9gUpXP2mpcK/+1Ezr9QfFWpyN6Q8AAA==&quot;"/>
    <we:property name="creatorSessionId" value="&quot;1a8876c2-84d8-4e7c-891f-5acdc3bea04c&quot;"/>
    <we:property name="creatorTenantId" value="&quot;90bb22db-a73a-4971-b7d6-7ca3ef90cf06&quot;"/>
    <we:property name="creatorUserId" value="&quot;10032003ADE72EEE&quot;"/>
    <we:property name="datasetId" value="&quot;670b44e6-318a-44ef-9592-c161822f5abd&quot;"/>
    <we:property name="embedUrl" value="&quot;/reportEmbed?reportId=c4c92836-b7ed-46b9-a9c8-7a21513158bc&amp;config=eyJjbHVzdGVyVXJsIjoiaHR0cHM6Ly9XQUJJLU5PUlRILUVVUk9QRS1KLVBSSU1BUlktcmVkaXJlY3QuYW5hbHlzaXMud2luZG93cy5uZXQiLCJlbWJlZEZlYXR1cmVzIjp7InVzYWdlTWV0cmljc1ZOZXh0Ijp0cnVlfX0%3D&amp;disableSensitivityBanner=true&amp;storytellingChangeViewModeShortcutKeys=true&quot;"/>
    <we:property name="initialStateBookmark" value="&quot;H4sIAAAAAAAAA+1XUW/TMBD+K8gvvFQoSZ3U3VvXDR5gMNZpEkJoutiXzsONI8cZlGn/nbOTaQMKk4DRSeMtubvc3fd9vktyyZRuGwPr17BCtsN2rf24AvfxScpGrB5sb968PJgdvTx9PTvYJ7NtvLZ1y3YumQe3RH+i2w5MyEDG9x9GDIw5hGW4q8C0OGINutbWYPQX7IPJ5V2HVyOGnxtjHYSUCw8eQ9oLCqd7qp0+S3MqCdLrC1yg9L1ZceCyzMokFxxBFWmRTSis7QNiaxtDQu5Yf25rD7qmOsE2TSUHyaelSLKE51xMszLYK238EFKu9z83juAR6HUTaJmpC6glKhYxOGz7li/ZAULbuQhk/xvHwnZO4hFW0VV77deUZ292PGNXxMShs8RTtB1bD+b0CNvG1gpr38aAM/tp7pA4UmwnufpAllbXSzNQegPuuG9wCd0SA3mdtws0xM3JLfegjC3PyREgUjrrFLrddUS5p9013dnoOyD3hJAgURBwnohqysUklQh5UqbV9E4x5sTK0jotiYfv9Zhb063qP2n2BVKP7nc0aI2W9ORtntkKaWjiEQUPEUTTl9LY+62KbowYL9krTbj73CdgupD26S60Wj4NnF2zFieEej6/NQMxvI0l/iIJVI885VSIvJpkmSzKUuUTIatiyzIdgcRHLtJAwSBRnohUkkASQIzFJJtgEjL8kgy9grg1bi2GkCtFTEWWj6vxmCeACpUU255KB6qLL47TdwgPajz36AllP9X/eEJ/IKQ/B4q26BTHoiqKrKqwAKiyLWv3HGRn6OrRa3ZDRK8V8oSnKYlVqHwsOKT0BbNlrd4S97qi5PFkRRUevWwbORm2rkjyvASeVIWUKUCuxpMtK7iQZ9aaU2qaosx/+TYQ0ms35qASLLgI2xIgCy/QB/8jMHr4O7vROD8D59lD++H4yWEbiFzfy5KPJ23TGNnOtw19wB1CjRvGifQEal3dMVLhv5rFGiSBLs1dI3gdPzT3FUOFU70SEAAA&quot;"/>
    <we:property name="isFiltersActionButtonVisible" value="true"/>
    <we:property name="isVisualContainerHeaderHidden" value="false"/>
    <we:property name="pageDisplayName" value="&quot;Response Rate&quot;"/>
    <we:property name="pageName" value="&quot;d4a4cb2b0584ead61627&quot;"/>
    <we:property name="pptInsertionSessionID" value="&quot;846FEBF0-A003-40EE-B049-38C615E1CB3F&quot;"/>
    <we:property name="reportEmbeddedTime" value="&quot;2025-11-19T19:29:56.021Z&quot;"/>
    <we:property name="reportName" value="&quot;GDS_Pilot_Dashboard&quot;"/>
    <we:property name="reportState" value="&quot;CONNECTED&quot;"/>
    <we:property name="reportUrl" value="&quot;/links/5JghRU84Kl?ctid=90bb22db-a73a-4971-b7d6-7ca3ef90cf06&amp;bookmarkGuid=fc48c769-587a-4fa7-9bc7-7d517997d60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75ec49-5365-4c01-9205-8935db0478e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AE5549C855804185ED77E83D66D264" ma:contentTypeVersion="10" ma:contentTypeDescription="Create a new document." ma:contentTypeScope="" ma:versionID="055bd199be62082b541ec6041c6f88f8">
  <xsd:schema xmlns:xsd="http://www.w3.org/2001/XMLSchema" xmlns:xs="http://www.w3.org/2001/XMLSchema" xmlns:p="http://schemas.microsoft.com/office/2006/metadata/properties" xmlns:ns3="e875ec49-5365-4c01-9205-8935db0478ef" targetNamespace="http://schemas.microsoft.com/office/2006/metadata/properties" ma:root="true" ma:fieldsID="1bce47921f3c6f95dfe9a8433c2c4651" ns3:_="">
    <xsd:import namespace="e875ec49-5365-4c01-9205-8935db0478e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75ec49-5365-4c01-9205-8935db0478e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49F8CE-A6A4-4703-B146-1CC385736E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293820-26D4-4E62-B5F5-D078B9B14BC7}">
  <ds:schemaRefs>
    <ds:schemaRef ds:uri="http://purl.org/dc/dcmitype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e875ec49-5365-4c01-9205-8935db0478ef"/>
  </ds:schemaRefs>
</ds:datastoreItem>
</file>

<file path=customXml/itemProps3.xml><?xml version="1.0" encoding="utf-8"?>
<ds:datastoreItem xmlns:ds="http://schemas.openxmlformats.org/officeDocument/2006/customXml" ds:itemID="{38C86B59-8C02-4D06-A0CE-6ABCA9621C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75ec49-5365-4c01-9205-8935db0478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5981</TotalTime>
  <Words>916</Words>
  <Application>Microsoft Office PowerPoint</Application>
  <PresentationFormat>On-screen Show (16:10)</PresentationFormat>
  <Paragraphs>130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Aptos</vt:lpstr>
      <vt:lpstr>Aptos Display</vt:lpstr>
      <vt:lpstr>Arial</vt:lpstr>
      <vt:lpstr>Courier New</vt:lpstr>
      <vt:lpstr>HelveticaNeueLT Std Med Cn</vt:lpstr>
      <vt:lpstr>HelveticaNeueLT Std Thin</vt:lpstr>
      <vt:lpstr>HelveticaNeueLT Std Thin Cn</vt:lpstr>
      <vt:lpstr>Segoe UI</vt:lpstr>
      <vt:lpstr>Times New Roman</vt:lpstr>
      <vt:lpstr>Wingdings</vt:lpstr>
      <vt:lpstr>20 YEAR COVER SLIDE</vt:lpstr>
      <vt:lpstr>3_20 YEAR SLIDE BG</vt:lpstr>
      <vt:lpstr>4_20 YEAR SLIDE BG</vt:lpstr>
      <vt:lpstr>IMPROVING GRADUATE OUTCOMES REPORTING AT CAPE PENINSULA UNIVERSITY OF TECHNOLOGY: A CASE STUDY IN SURVEY REDESIGN AND DASHBOARD DEVELOPMENT   </vt:lpstr>
      <vt:lpstr>BACKGROUND  </vt:lpstr>
      <vt:lpstr>BACKGROUND (cont.)  </vt:lpstr>
      <vt:lpstr>BACKGROUND (cont.)  </vt:lpstr>
      <vt:lpstr> OBJECTIVES  </vt:lpstr>
      <vt:lpstr>  </vt:lpstr>
      <vt:lpstr>METHODOLOGY OVERVIEW   </vt:lpstr>
      <vt:lpstr>HISTORICAL DATASET (CLEANED)   </vt:lpstr>
      <vt:lpstr>PILOT DATASET (REDESIGNED GDS) ​   </vt:lpstr>
      <vt:lpstr>Results &amp; Discussion  Pilot Survey Highlights  </vt:lpstr>
      <vt:lpstr>Pilot Survey Highlights  </vt:lpstr>
      <vt:lpstr>Pilot Survey Highlights  </vt:lpstr>
      <vt:lpstr>Dashboard Insights  </vt:lpstr>
      <vt:lpstr> Limitations   </vt:lpstr>
      <vt:lpstr> Conclusion &amp; Recommendations  </vt:lpstr>
      <vt:lpstr>References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Bridgette Hunt</dc:creator>
  <cp:lastModifiedBy>Nqabakazi Dyantyi</cp:lastModifiedBy>
  <cp:revision>177</cp:revision>
  <dcterms:created xsi:type="dcterms:W3CDTF">2020-08-14T09:22:18Z</dcterms:created>
  <dcterms:modified xsi:type="dcterms:W3CDTF">2026-08-21T07:34:47Z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0x01010001AE5549C855804185ED77E83D66D264</vt:lpwstr>
  </property>
</Properties>
</file>