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0"/>
  </p:notesMasterIdLst>
  <p:sldIdLst>
    <p:sldId id="256" r:id="rId5"/>
    <p:sldId id="257" r:id="rId6"/>
    <p:sldId id="274" r:id="rId7"/>
    <p:sldId id="275" r:id="rId8"/>
    <p:sldId id="282" r:id="rId9"/>
    <p:sldId id="266" r:id="rId10"/>
    <p:sldId id="283" r:id="rId11"/>
    <p:sldId id="284" r:id="rId12"/>
    <p:sldId id="285" r:id="rId13"/>
    <p:sldId id="260" r:id="rId14"/>
    <p:sldId id="286" r:id="rId15"/>
    <p:sldId id="287" r:id="rId16"/>
    <p:sldId id="262" r:id="rId17"/>
    <p:sldId id="26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outlineViewPr>
    <p:cViewPr>
      <p:scale>
        <a:sx n="33" d="100"/>
        <a:sy n="33" d="100"/>
      </p:scale>
      <p:origin x="0" y="-838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800" dirty="0">
                <a:latin typeface="Gill Sans MT" panose="020B0502020104020203" pitchFamily="34" charset="0"/>
              </a:rPr>
              <a:t>Crop</a:t>
            </a:r>
            <a:r>
              <a:rPr lang="en-ZA" sz="1800" baseline="0" dirty="0">
                <a:latin typeface="Gill Sans MT" panose="020B0502020104020203" pitchFamily="34" charset="0"/>
              </a:rPr>
              <a:t> Allocation Comparison: Farmer's plan Vs. LP plan</a:t>
            </a:r>
            <a:endParaRPr lang="en-ZA" sz="1800" dirty="0">
              <a:latin typeface="Gill Sans MT" panose="020B0502020104020203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Farmer's allocation plan (ha)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Cabbage</c:v>
                </c:pt>
                <c:pt idx="1">
                  <c:v>Spinach</c:v>
                </c:pt>
                <c:pt idx="2">
                  <c:v>Butternut</c:v>
                </c:pt>
                <c:pt idx="3">
                  <c:v>Tomatoes</c:v>
                </c:pt>
                <c:pt idx="4">
                  <c:v>Potatoes</c:v>
                </c:pt>
                <c:pt idx="5">
                  <c:v>Maize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1</c:v>
                </c:pt>
                <c:pt idx="3">
                  <c:v>0.23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75-471A-A98D-93B1601E0D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Programming  allocation plan (ha)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Cabbage</c:v>
                </c:pt>
                <c:pt idx="1">
                  <c:v>Spinach</c:v>
                </c:pt>
                <c:pt idx="2">
                  <c:v>Butternut</c:v>
                </c:pt>
                <c:pt idx="3">
                  <c:v>Tomatoes</c:v>
                </c:pt>
                <c:pt idx="4">
                  <c:v>Potatoes</c:v>
                </c:pt>
                <c:pt idx="5">
                  <c:v>Maize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4.76</c:v>
                </c:pt>
                <c:pt idx="3">
                  <c:v>1</c:v>
                </c:pt>
                <c:pt idx="4">
                  <c:v>2</c:v>
                </c:pt>
                <c:pt idx="5">
                  <c:v>1.67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75-471A-A98D-93B1601E0D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53932703"/>
        <c:axId val="1253933663"/>
      </c:barChart>
      <c:catAx>
        <c:axId val="1253932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0"/>
                <a:ea typeface="+mn-ea"/>
                <a:cs typeface="+mn-cs"/>
              </a:defRPr>
            </a:pPr>
            <a:endParaRPr lang="en-US"/>
          </a:p>
        </c:txPr>
        <c:crossAx val="1253933663"/>
        <c:crosses val="autoZero"/>
        <c:auto val="1"/>
        <c:lblAlgn val="ctr"/>
        <c:lblOffset val="100"/>
        <c:noMultiLvlLbl val="0"/>
      </c:catAx>
      <c:valAx>
        <c:axId val="1253933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932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2A19C8-F3FF-49BE-B324-DCEF617573F2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5B227D-2E31-4607-964B-B80ADC1CF649}">
      <dgm:prSet custT="1"/>
      <dgm:spPr/>
      <dgm:t>
        <a:bodyPr/>
        <a:lstStyle/>
        <a:p>
          <a:r>
            <a:rPr lang="en-US" sz="1800" b="0" i="0" dirty="0">
              <a:latin typeface="Gill Sans MT" panose="020B0502020104020203" pitchFamily="34" charset="0"/>
            </a:rPr>
            <a:t>Investigate the application of linear programming to enhance resource allocation in agriculture.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664D93C5-4EEE-4C78-ABAE-69B362D65DC7}" type="parTrans" cxnId="{E4D81F4C-F699-4343-83BC-A136E93D75D3}">
      <dgm:prSet/>
      <dgm:spPr/>
      <dgm:t>
        <a:bodyPr/>
        <a:lstStyle/>
        <a:p>
          <a:endParaRPr lang="en-US"/>
        </a:p>
      </dgm:t>
    </dgm:pt>
    <dgm:pt modelId="{5484FBBC-7EFE-412A-9F52-D9942E48ACCE}" type="sibTrans" cxnId="{E4D81F4C-F699-4343-83BC-A136E93D75D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5F9F8C9-3214-43D0-A61D-9CDAEF444FEE}">
      <dgm:prSet custT="1"/>
      <dgm:spPr/>
      <dgm:t>
        <a:bodyPr/>
        <a:lstStyle/>
        <a:p>
          <a:r>
            <a:rPr lang="en-US" sz="1800" b="0" i="0" dirty="0">
              <a:latin typeface="Gill Sans MT" panose="020B0502020104020203" pitchFamily="34" charset="0"/>
            </a:rPr>
            <a:t>Identify key variables and constraints for a farmer-focused linear programming model.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76CEDEEC-8FF4-4302-B827-5464882E3217}" type="parTrans" cxnId="{B917052F-B8EC-4FE9-A067-35887BF87D27}">
      <dgm:prSet/>
      <dgm:spPr/>
      <dgm:t>
        <a:bodyPr/>
        <a:lstStyle/>
        <a:p>
          <a:endParaRPr lang="en-US"/>
        </a:p>
      </dgm:t>
    </dgm:pt>
    <dgm:pt modelId="{C57216AC-6234-4B95-9A25-8F20AFCBDDAE}" type="sibTrans" cxnId="{B917052F-B8EC-4FE9-A067-35887BF87D2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2F43E74-2C7D-456A-8780-E37E7C8E1480}">
      <dgm:prSet custT="1"/>
      <dgm:spPr/>
      <dgm:t>
        <a:bodyPr/>
        <a:lstStyle/>
        <a:p>
          <a:r>
            <a:rPr lang="en-US" sz="1800" b="0" i="0" dirty="0">
              <a:latin typeface="Gill Sans MT" panose="020B0502020104020203" pitchFamily="34" charset="0"/>
            </a:rPr>
            <a:t>Determine essential parameters and data sources for effective MATLAB implementation.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9C3BD87E-15A9-44A6-800F-ECB1BE63B7F8}" type="parTrans" cxnId="{E66E80E1-1988-4142-99AC-9B56942CE8B0}">
      <dgm:prSet/>
      <dgm:spPr/>
      <dgm:t>
        <a:bodyPr/>
        <a:lstStyle/>
        <a:p>
          <a:endParaRPr lang="en-US"/>
        </a:p>
      </dgm:t>
    </dgm:pt>
    <dgm:pt modelId="{E7C3AAC4-E911-4462-9FFF-B6627384CECF}" type="sibTrans" cxnId="{E66E80E1-1988-4142-99AC-9B56942CE8B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EB15154-3D5B-4E52-96DA-2BFA61CD677A}">
      <dgm:prSet custT="1"/>
      <dgm:spPr/>
      <dgm:t>
        <a:bodyPr/>
        <a:lstStyle/>
        <a:p>
          <a:r>
            <a:rPr lang="en-US" sz="1800" b="0" i="0" dirty="0">
              <a:latin typeface="Gill Sans MT" panose="020B0502020104020203" pitchFamily="34" charset="0"/>
            </a:rPr>
            <a:t>Develop methods to communicate linear programming results to farm managers for informed decision-making.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6AB4B35D-8B3D-480F-ADAE-A02AE04749FA}" type="parTrans" cxnId="{46AEC4DB-23FF-4BDF-9074-15DDA6CA101A}">
      <dgm:prSet/>
      <dgm:spPr/>
      <dgm:t>
        <a:bodyPr/>
        <a:lstStyle/>
        <a:p>
          <a:endParaRPr lang="en-US"/>
        </a:p>
      </dgm:t>
    </dgm:pt>
    <dgm:pt modelId="{C90783AA-83E9-4B34-8A0C-A86E29D294C6}" type="sibTrans" cxnId="{46AEC4DB-23FF-4BDF-9074-15DDA6CA101A}">
      <dgm:prSet phldrT="4" phldr="0"/>
      <dgm:spPr/>
      <dgm:t>
        <a:bodyPr/>
        <a:lstStyle/>
        <a:p>
          <a:r>
            <a:rPr lang="en-US"/>
            <a:t>4</a:t>
          </a:r>
          <a:endParaRPr lang="en-US" dirty="0"/>
        </a:p>
      </dgm:t>
    </dgm:pt>
    <dgm:pt modelId="{C4468A6E-1748-41A6-8684-4B5F15F896FA}" type="pres">
      <dgm:prSet presAssocID="{FE2A19C8-F3FF-49BE-B324-DCEF617573F2}" presName="linearFlow" presStyleCnt="0">
        <dgm:presLayoutVars>
          <dgm:dir/>
          <dgm:animLvl val="lvl"/>
          <dgm:resizeHandles val="exact"/>
        </dgm:presLayoutVars>
      </dgm:prSet>
      <dgm:spPr/>
    </dgm:pt>
    <dgm:pt modelId="{9ED60B28-709D-4E34-906D-BA29F78B6331}" type="pres">
      <dgm:prSet presAssocID="{4B5B227D-2E31-4607-964B-B80ADC1CF649}" presName="compositeNode" presStyleCnt="0"/>
      <dgm:spPr/>
    </dgm:pt>
    <dgm:pt modelId="{0474E3D7-B6A3-4FCD-9AE9-ED550C3E8E03}" type="pres">
      <dgm:prSet presAssocID="{4B5B227D-2E31-4607-964B-B80ADC1CF64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0F8348B-3FAC-4A7B-B75A-79254D65E50F}" type="pres">
      <dgm:prSet presAssocID="{4B5B227D-2E31-4607-964B-B80ADC1CF649}" presName="parSh" presStyleCnt="0"/>
      <dgm:spPr/>
    </dgm:pt>
    <dgm:pt modelId="{60B254E4-6EA8-4328-AB7A-9B0B6E2B46E1}" type="pres">
      <dgm:prSet presAssocID="{4B5B227D-2E31-4607-964B-B80ADC1CF649}" presName="lineNode" presStyleLbl="alignAccFollowNode1" presStyleIdx="0" presStyleCnt="12"/>
      <dgm:spPr/>
    </dgm:pt>
    <dgm:pt modelId="{D164DF94-1404-45BF-A758-D39E822B9ADE}" type="pres">
      <dgm:prSet presAssocID="{4B5B227D-2E31-4607-964B-B80ADC1CF649}" presName="lineArrowNode" presStyleLbl="alignAccFollowNode1" presStyleIdx="1" presStyleCnt="12"/>
      <dgm:spPr/>
    </dgm:pt>
    <dgm:pt modelId="{189796E4-8E15-4C16-B0F0-CDCBE3CA8462}" type="pres">
      <dgm:prSet presAssocID="{5484FBBC-7EFE-412A-9F52-D9942E48ACCE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045EC92E-32FA-4A5C-99DE-6114F144D452}" type="pres">
      <dgm:prSet presAssocID="{5484FBBC-7EFE-412A-9F52-D9942E48ACCE}" presName="spacerBetweenCircleAndCallout" presStyleCnt="0">
        <dgm:presLayoutVars/>
      </dgm:prSet>
      <dgm:spPr/>
    </dgm:pt>
    <dgm:pt modelId="{5328AB2D-15A9-430B-8D17-339CB4CEB4EF}" type="pres">
      <dgm:prSet presAssocID="{4B5B227D-2E31-4607-964B-B80ADC1CF649}" presName="nodeText" presStyleLbl="alignAccFollowNode1" presStyleIdx="2" presStyleCnt="12">
        <dgm:presLayoutVars>
          <dgm:bulletEnabled val="1"/>
        </dgm:presLayoutVars>
      </dgm:prSet>
      <dgm:spPr/>
    </dgm:pt>
    <dgm:pt modelId="{69E9C11A-60B6-417B-AECD-E214C6328487}" type="pres">
      <dgm:prSet presAssocID="{5484FBBC-7EFE-412A-9F52-D9942E48ACCE}" presName="sibTransComposite" presStyleCnt="0"/>
      <dgm:spPr/>
    </dgm:pt>
    <dgm:pt modelId="{8422ACDE-4B22-4E72-92E5-61B2B8E44E1A}" type="pres">
      <dgm:prSet presAssocID="{85F9F8C9-3214-43D0-A61D-9CDAEF444FEE}" presName="compositeNode" presStyleCnt="0"/>
      <dgm:spPr/>
    </dgm:pt>
    <dgm:pt modelId="{E85DDF53-B147-4C0F-8BA8-D69DD1E91A1B}" type="pres">
      <dgm:prSet presAssocID="{85F9F8C9-3214-43D0-A61D-9CDAEF444FE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C29EA64-F1BC-492D-811B-95F0B23AD9AD}" type="pres">
      <dgm:prSet presAssocID="{85F9F8C9-3214-43D0-A61D-9CDAEF444FEE}" presName="parSh" presStyleCnt="0"/>
      <dgm:spPr/>
    </dgm:pt>
    <dgm:pt modelId="{46C2DC67-9485-4D17-A193-83F7994A836E}" type="pres">
      <dgm:prSet presAssocID="{85F9F8C9-3214-43D0-A61D-9CDAEF444FEE}" presName="lineNode" presStyleLbl="alignAccFollowNode1" presStyleIdx="3" presStyleCnt="12"/>
      <dgm:spPr/>
    </dgm:pt>
    <dgm:pt modelId="{B08668D8-4F6D-4665-9BD0-BA28B2E34123}" type="pres">
      <dgm:prSet presAssocID="{85F9F8C9-3214-43D0-A61D-9CDAEF444FEE}" presName="lineArrowNode" presStyleLbl="alignAccFollowNode1" presStyleIdx="4" presStyleCnt="12"/>
      <dgm:spPr/>
    </dgm:pt>
    <dgm:pt modelId="{D3F14C93-D4C8-4BBD-9C81-802FB3432A44}" type="pres">
      <dgm:prSet presAssocID="{C57216AC-6234-4B95-9A25-8F20AFCBDDAE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59674A29-B5AE-4D03-9A0B-DB24ECBBC337}" type="pres">
      <dgm:prSet presAssocID="{C57216AC-6234-4B95-9A25-8F20AFCBDDAE}" presName="spacerBetweenCircleAndCallout" presStyleCnt="0">
        <dgm:presLayoutVars/>
      </dgm:prSet>
      <dgm:spPr/>
    </dgm:pt>
    <dgm:pt modelId="{BC77B403-FFDC-457E-B469-3CD611EB478C}" type="pres">
      <dgm:prSet presAssocID="{85F9F8C9-3214-43D0-A61D-9CDAEF444FEE}" presName="nodeText" presStyleLbl="alignAccFollowNode1" presStyleIdx="5" presStyleCnt="12">
        <dgm:presLayoutVars>
          <dgm:bulletEnabled val="1"/>
        </dgm:presLayoutVars>
      </dgm:prSet>
      <dgm:spPr/>
    </dgm:pt>
    <dgm:pt modelId="{B808ABCC-A9D3-43B9-BB4C-E0BF55A0BDEE}" type="pres">
      <dgm:prSet presAssocID="{C57216AC-6234-4B95-9A25-8F20AFCBDDAE}" presName="sibTransComposite" presStyleCnt="0"/>
      <dgm:spPr/>
    </dgm:pt>
    <dgm:pt modelId="{AB680357-C649-4AAC-9FCF-4CE42219FA20}" type="pres">
      <dgm:prSet presAssocID="{12F43E74-2C7D-456A-8780-E37E7C8E1480}" presName="compositeNode" presStyleCnt="0"/>
      <dgm:spPr/>
    </dgm:pt>
    <dgm:pt modelId="{B07213B5-AA3F-46FE-ABF0-163C1654780D}" type="pres">
      <dgm:prSet presAssocID="{12F43E74-2C7D-456A-8780-E37E7C8E148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3656EED-E58D-41CF-BA66-770CC61EA2C3}" type="pres">
      <dgm:prSet presAssocID="{12F43E74-2C7D-456A-8780-E37E7C8E1480}" presName="parSh" presStyleCnt="0"/>
      <dgm:spPr/>
    </dgm:pt>
    <dgm:pt modelId="{9B703E64-102C-4B62-BA60-538B8588E56E}" type="pres">
      <dgm:prSet presAssocID="{12F43E74-2C7D-456A-8780-E37E7C8E1480}" presName="lineNode" presStyleLbl="alignAccFollowNode1" presStyleIdx="6" presStyleCnt="12"/>
      <dgm:spPr/>
    </dgm:pt>
    <dgm:pt modelId="{019D60EB-FC98-4D6D-9D50-B8B33BD88BE6}" type="pres">
      <dgm:prSet presAssocID="{12F43E74-2C7D-456A-8780-E37E7C8E1480}" presName="lineArrowNode" presStyleLbl="alignAccFollowNode1" presStyleIdx="7" presStyleCnt="12"/>
      <dgm:spPr/>
    </dgm:pt>
    <dgm:pt modelId="{6FB6588B-ED48-44A5-9AEB-E1F3CDCD91F8}" type="pres">
      <dgm:prSet presAssocID="{E7C3AAC4-E911-4462-9FFF-B6627384CECF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6D272620-6FAF-411F-ADB9-463361F9D4C0}" type="pres">
      <dgm:prSet presAssocID="{E7C3AAC4-E911-4462-9FFF-B6627384CECF}" presName="spacerBetweenCircleAndCallout" presStyleCnt="0">
        <dgm:presLayoutVars/>
      </dgm:prSet>
      <dgm:spPr/>
    </dgm:pt>
    <dgm:pt modelId="{D6307470-694C-473E-9C3E-88B6CBE5666A}" type="pres">
      <dgm:prSet presAssocID="{12F43E74-2C7D-456A-8780-E37E7C8E1480}" presName="nodeText" presStyleLbl="alignAccFollowNode1" presStyleIdx="8" presStyleCnt="12">
        <dgm:presLayoutVars>
          <dgm:bulletEnabled val="1"/>
        </dgm:presLayoutVars>
      </dgm:prSet>
      <dgm:spPr/>
    </dgm:pt>
    <dgm:pt modelId="{D49CE1A7-2D93-4C95-A392-0BBB760CA632}" type="pres">
      <dgm:prSet presAssocID="{E7C3AAC4-E911-4462-9FFF-B6627384CECF}" presName="sibTransComposite" presStyleCnt="0"/>
      <dgm:spPr/>
    </dgm:pt>
    <dgm:pt modelId="{63076CD2-F3BF-4713-8AEA-9270C58016FB}" type="pres">
      <dgm:prSet presAssocID="{6EB15154-3D5B-4E52-96DA-2BFA61CD677A}" presName="compositeNode" presStyleCnt="0"/>
      <dgm:spPr/>
    </dgm:pt>
    <dgm:pt modelId="{42F4D051-2B10-4E75-9E6A-B8B65F359748}" type="pres">
      <dgm:prSet presAssocID="{6EB15154-3D5B-4E52-96DA-2BFA61CD677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B8341DE-95F6-42D8-90BF-2687F056F7FF}" type="pres">
      <dgm:prSet presAssocID="{6EB15154-3D5B-4E52-96DA-2BFA61CD677A}" presName="parSh" presStyleCnt="0"/>
      <dgm:spPr/>
    </dgm:pt>
    <dgm:pt modelId="{5FC1954F-72B6-4EEF-B288-59AB067B24A5}" type="pres">
      <dgm:prSet presAssocID="{6EB15154-3D5B-4E52-96DA-2BFA61CD677A}" presName="lineNode" presStyleLbl="alignAccFollowNode1" presStyleIdx="9" presStyleCnt="12"/>
      <dgm:spPr/>
    </dgm:pt>
    <dgm:pt modelId="{A193E37E-76A2-48C2-AEAB-B3A2CAEBCF60}" type="pres">
      <dgm:prSet presAssocID="{6EB15154-3D5B-4E52-96DA-2BFA61CD677A}" presName="lineArrowNode" presStyleLbl="alignAccFollowNode1" presStyleIdx="10" presStyleCnt="12"/>
      <dgm:spPr/>
    </dgm:pt>
    <dgm:pt modelId="{4CF72785-FA07-4513-813F-C8EC7F6120C9}" type="pres">
      <dgm:prSet presAssocID="{C90783AA-83E9-4B34-8A0C-A86E29D294C6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7B2A845F-1F3D-4ED6-88C9-1F7915EDEF97}" type="pres">
      <dgm:prSet presAssocID="{C90783AA-83E9-4B34-8A0C-A86E29D294C6}" presName="spacerBetweenCircleAndCallout" presStyleCnt="0">
        <dgm:presLayoutVars/>
      </dgm:prSet>
      <dgm:spPr/>
    </dgm:pt>
    <dgm:pt modelId="{C5973B99-7CBA-4AAA-A6DB-966F13B71929}" type="pres">
      <dgm:prSet presAssocID="{6EB15154-3D5B-4E52-96DA-2BFA61CD677A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B917052F-B8EC-4FE9-A067-35887BF87D27}" srcId="{FE2A19C8-F3FF-49BE-B324-DCEF617573F2}" destId="{85F9F8C9-3214-43D0-A61D-9CDAEF444FEE}" srcOrd="1" destOrd="0" parTransId="{76CEDEEC-8FF4-4302-B827-5464882E3217}" sibTransId="{C57216AC-6234-4B95-9A25-8F20AFCBDDAE}"/>
    <dgm:cxn modelId="{05A2E131-46D0-4229-A038-45FFA3B4A44B}" type="presOf" srcId="{E7C3AAC4-E911-4462-9FFF-B6627384CECF}" destId="{6FB6588B-ED48-44A5-9AEB-E1F3CDCD91F8}" srcOrd="0" destOrd="0" presId="urn:microsoft.com/office/officeart/2016/7/layout/LinearArrowProcessNumbered"/>
    <dgm:cxn modelId="{E4D81F4C-F699-4343-83BC-A136E93D75D3}" srcId="{FE2A19C8-F3FF-49BE-B324-DCEF617573F2}" destId="{4B5B227D-2E31-4607-964B-B80ADC1CF649}" srcOrd="0" destOrd="0" parTransId="{664D93C5-4EEE-4C78-ABAE-69B362D65DC7}" sibTransId="{5484FBBC-7EFE-412A-9F52-D9942E48ACCE}"/>
    <dgm:cxn modelId="{04799557-C69A-4BFE-B3F4-DD996479D06C}" type="presOf" srcId="{C57216AC-6234-4B95-9A25-8F20AFCBDDAE}" destId="{D3F14C93-D4C8-4BBD-9C81-802FB3432A44}" srcOrd="0" destOrd="0" presId="urn:microsoft.com/office/officeart/2016/7/layout/LinearArrowProcessNumbered"/>
    <dgm:cxn modelId="{6BB55282-E5F2-4176-8B18-4750965EDE20}" type="presOf" srcId="{85F9F8C9-3214-43D0-A61D-9CDAEF444FEE}" destId="{BC77B403-FFDC-457E-B469-3CD611EB478C}" srcOrd="0" destOrd="0" presId="urn:microsoft.com/office/officeart/2016/7/layout/LinearArrowProcessNumbered"/>
    <dgm:cxn modelId="{E0DCFAAD-BB20-456A-8249-F8B050CE9010}" type="presOf" srcId="{FE2A19C8-F3FF-49BE-B324-DCEF617573F2}" destId="{C4468A6E-1748-41A6-8684-4B5F15F896FA}" srcOrd="0" destOrd="0" presId="urn:microsoft.com/office/officeart/2016/7/layout/LinearArrowProcessNumbered"/>
    <dgm:cxn modelId="{69D5E6B0-88A7-457C-A370-C6CB50C402C6}" type="presOf" srcId="{C90783AA-83E9-4B34-8A0C-A86E29D294C6}" destId="{4CF72785-FA07-4513-813F-C8EC7F6120C9}" srcOrd="0" destOrd="0" presId="urn:microsoft.com/office/officeart/2016/7/layout/LinearArrowProcessNumbered"/>
    <dgm:cxn modelId="{15EBFBC4-D1D1-4609-81C0-BB1AEAEBA1DA}" type="presOf" srcId="{5484FBBC-7EFE-412A-9F52-D9942E48ACCE}" destId="{189796E4-8E15-4C16-B0F0-CDCBE3CA8462}" srcOrd="0" destOrd="0" presId="urn:microsoft.com/office/officeart/2016/7/layout/LinearArrowProcessNumbered"/>
    <dgm:cxn modelId="{0ECCE4C5-41CF-4DAC-9891-7E17221E78DA}" type="presOf" srcId="{4B5B227D-2E31-4607-964B-B80ADC1CF649}" destId="{5328AB2D-15A9-430B-8D17-339CB4CEB4EF}" srcOrd="0" destOrd="0" presId="urn:microsoft.com/office/officeart/2016/7/layout/LinearArrowProcessNumbered"/>
    <dgm:cxn modelId="{6D886ECE-26B5-46D4-A039-C6459CE2408A}" type="presOf" srcId="{12F43E74-2C7D-456A-8780-E37E7C8E1480}" destId="{D6307470-694C-473E-9C3E-88B6CBE5666A}" srcOrd="0" destOrd="0" presId="urn:microsoft.com/office/officeart/2016/7/layout/LinearArrowProcessNumbered"/>
    <dgm:cxn modelId="{46AEC4DB-23FF-4BDF-9074-15DDA6CA101A}" srcId="{FE2A19C8-F3FF-49BE-B324-DCEF617573F2}" destId="{6EB15154-3D5B-4E52-96DA-2BFA61CD677A}" srcOrd="3" destOrd="0" parTransId="{6AB4B35D-8B3D-480F-ADAE-A02AE04749FA}" sibTransId="{C90783AA-83E9-4B34-8A0C-A86E29D294C6}"/>
    <dgm:cxn modelId="{E66E80E1-1988-4142-99AC-9B56942CE8B0}" srcId="{FE2A19C8-F3FF-49BE-B324-DCEF617573F2}" destId="{12F43E74-2C7D-456A-8780-E37E7C8E1480}" srcOrd="2" destOrd="0" parTransId="{9C3BD87E-15A9-44A6-800F-ECB1BE63B7F8}" sibTransId="{E7C3AAC4-E911-4462-9FFF-B6627384CECF}"/>
    <dgm:cxn modelId="{5870A7F3-B5E0-473B-9495-CFE50CA138F3}" type="presOf" srcId="{6EB15154-3D5B-4E52-96DA-2BFA61CD677A}" destId="{C5973B99-7CBA-4AAA-A6DB-966F13B71929}" srcOrd="0" destOrd="0" presId="urn:microsoft.com/office/officeart/2016/7/layout/LinearArrowProcessNumbered"/>
    <dgm:cxn modelId="{9DCAE990-F85A-423F-8429-0487E13449F8}" type="presParOf" srcId="{C4468A6E-1748-41A6-8684-4B5F15F896FA}" destId="{9ED60B28-709D-4E34-906D-BA29F78B6331}" srcOrd="0" destOrd="0" presId="urn:microsoft.com/office/officeart/2016/7/layout/LinearArrowProcessNumbered"/>
    <dgm:cxn modelId="{446BCF2D-6A0A-4A98-B90E-270351E12BE8}" type="presParOf" srcId="{9ED60B28-709D-4E34-906D-BA29F78B6331}" destId="{0474E3D7-B6A3-4FCD-9AE9-ED550C3E8E03}" srcOrd="0" destOrd="0" presId="urn:microsoft.com/office/officeart/2016/7/layout/LinearArrowProcessNumbered"/>
    <dgm:cxn modelId="{6863B5A7-65B4-4AD1-A224-93CD1B895281}" type="presParOf" srcId="{9ED60B28-709D-4E34-906D-BA29F78B6331}" destId="{10F8348B-3FAC-4A7B-B75A-79254D65E50F}" srcOrd="1" destOrd="0" presId="urn:microsoft.com/office/officeart/2016/7/layout/LinearArrowProcessNumbered"/>
    <dgm:cxn modelId="{43211075-72F5-4B22-BB75-58A6D4CC93B1}" type="presParOf" srcId="{10F8348B-3FAC-4A7B-B75A-79254D65E50F}" destId="{60B254E4-6EA8-4328-AB7A-9B0B6E2B46E1}" srcOrd="0" destOrd="0" presId="urn:microsoft.com/office/officeart/2016/7/layout/LinearArrowProcessNumbered"/>
    <dgm:cxn modelId="{A03C8D31-BD88-445E-A550-05F3039D321A}" type="presParOf" srcId="{10F8348B-3FAC-4A7B-B75A-79254D65E50F}" destId="{D164DF94-1404-45BF-A758-D39E822B9ADE}" srcOrd="1" destOrd="0" presId="urn:microsoft.com/office/officeart/2016/7/layout/LinearArrowProcessNumbered"/>
    <dgm:cxn modelId="{1BDD247E-639D-42B4-9F86-CEF36D5D2FA4}" type="presParOf" srcId="{10F8348B-3FAC-4A7B-B75A-79254D65E50F}" destId="{189796E4-8E15-4C16-B0F0-CDCBE3CA8462}" srcOrd="2" destOrd="0" presId="urn:microsoft.com/office/officeart/2016/7/layout/LinearArrowProcessNumbered"/>
    <dgm:cxn modelId="{060DC4DE-3171-4746-9038-73DEE6F9D224}" type="presParOf" srcId="{10F8348B-3FAC-4A7B-B75A-79254D65E50F}" destId="{045EC92E-32FA-4A5C-99DE-6114F144D452}" srcOrd="3" destOrd="0" presId="urn:microsoft.com/office/officeart/2016/7/layout/LinearArrowProcessNumbered"/>
    <dgm:cxn modelId="{D9FCF1E1-2DC4-4A39-A598-B891FE22DE23}" type="presParOf" srcId="{9ED60B28-709D-4E34-906D-BA29F78B6331}" destId="{5328AB2D-15A9-430B-8D17-339CB4CEB4EF}" srcOrd="2" destOrd="0" presId="urn:microsoft.com/office/officeart/2016/7/layout/LinearArrowProcessNumbered"/>
    <dgm:cxn modelId="{4BCA2A06-B456-4A33-8047-3235BC499C8F}" type="presParOf" srcId="{C4468A6E-1748-41A6-8684-4B5F15F896FA}" destId="{69E9C11A-60B6-417B-AECD-E214C6328487}" srcOrd="1" destOrd="0" presId="urn:microsoft.com/office/officeart/2016/7/layout/LinearArrowProcessNumbered"/>
    <dgm:cxn modelId="{0A856FAB-7306-4EED-9C6F-AEAEDEDB90DE}" type="presParOf" srcId="{C4468A6E-1748-41A6-8684-4B5F15F896FA}" destId="{8422ACDE-4B22-4E72-92E5-61B2B8E44E1A}" srcOrd="2" destOrd="0" presId="urn:microsoft.com/office/officeart/2016/7/layout/LinearArrowProcessNumbered"/>
    <dgm:cxn modelId="{3CD484C8-4A19-4E7D-989A-AA00C35870DA}" type="presParOf" srcId="{8422ACDE-4B22-4E72-92E5-61B2B8E44E1A}" destId="{E85DDF53-B147-4C0F-8BA8-D69DD1E91A1B}" srcOrd="0" destOrd="0" presId="urn:microsoft.com/office/officeart/2016/7/layout/LinearArrowProcessNumbered"/>
    <dgm:cxn modelId="{C29E8750-BCEF-4EAB-B62A-50F0AC339CD8}" type="presParOf" srcId="{8422ACDE-4B22-4E72-92E5-61B2B8E44E1A}" destId="{5C29EA64-F1BC-492D-811B-95F0B23AD9AD}" srcOrd="1" destOrd="0" presId="urn:microsoft.com/office/officeart/2016/7/layout/LinearArrowProcessNumbered"/>
    <dgm:cxn modelId="{46466D51-E8AB-412D-86EC-7907897D777B}" type="presParOf" srcId="{5C29EA64-F1BC-492D-811B-95F0B23AD9AD}" destId="{46C2DC67-9485-4D17-A193-83F7994A836E}" srcOrd="0" destOrd="0" presId="urn:microsoft.com/office/officeart/2016/7/layout/LinearArrowProcessNumbered"/>
    <dgm:cxn modelId="{E3A61072-4561-40CC-B4E1-C6822F3BE5E6}" type="presParOf" srcId="{5C29EA64-F1BC-492D-811B-95F0B23AD9AD}" destId="{B08668D8-4F6D-4665-9BD0-BA28B2E34123}" srcOrd="1" destOrd="0" presId="urn:microsoft.com/office/officeart/2016/7/layout/LinearArrowProcessNumbered"/>
    <dgm:cxn modelId="{64D3E859-0E72-41A3-884B-94A2F0015470}" type="presParOf" srcId="{5C29EA64-F1BC-492D-811B-95F0B23AD9AD}" destId="{D3F14C93-D4C8-4BBD-9C81-802FB3432A44}" srcOrd="2" destOrd="0" presId="urn:microsoft.com/office/officeart/2016/7/layout/LinearArrowProcessNumbered"/>
    <dgm:cxn modelId="{EC5290BA-4895-40F3-B735-7D6B307D46D2}" type="presParOf" srcId="{5C29EA64-F1BC-492D-811B-95F0B23AD9AD}" destId="{59674A29-B5AE-4D03-9A0B-DB24ECBBC337}" srcOrd="3" destOrd="0" presId="urn:microsoft.com/office/officeart/2016/7/layout/LinearArrowProcessNumbered"/>
    <dgm:cxn modelId="{4B4CB33C-D40D-4309-9C21-255AC99985BA}" type="presParOf" srcId="{8422ACDE-4B22-4E72-92E5-61B2B8E44E1A}" destId="{BC77B403-FFDC-457E-B469-3CD611EB478C}" srcOrd="2" destOrd="0" presId="urn:microsoft.com/office/officeart/2016/7/layout/LinearArrowProcessNumbered"/>
    <dgm:cxn modelId="{2249BAAB-028F-47BD-BCF8-8C11256B0273}" type="presParOf" srcId="{C4468A6E-1748-41A6-8684-4B5F15F896FA}" destId="{B808ABCC-A9D3-43B9-BB4C-E0BF55A0BDEE}" srcOrd="3" destOrd="0" presId="urn:microsoft.com/office/officeart/2016/7/layout/LinearArrowProcessNumbered"/>
    <dgm:cxn modelId="{C202CE45-053D-48F2-B51A-19E6C7E117D4}" type="presParOf" srcId="{C4468A6E-1748-41A6-8684-4B5F15F896FA}" destId="{AB680357-C649-4AAC-9FCF-4CE42219FA20}" srcOrd="4" destOrd="0" presId="urn:microsoft.com/office/officeart/2016/7/layout/LinearArrowProcessNumbered"/>
    <dgm:cxn modelId="{05109F3C-9DFA-4CFA-A86C-388EFBCEE391}" type="presParOf" srcId="{AB680357-C649-4AAC-9FCF-4CE42219FA20}" destId="{B07213B5-AA3F-46FE-ABF0-163C1654780D}" srcOrd="0" destOrd="0" presId="urn:microsoft.com/office/officeart/2016/7/layout/LinearArrowProcessNumbered"/>
    <dgm:cxn modelId="{59A276EC-0847-4092-B2EA-16F9333D2F00}" type="presParOf" srcId="{AB680357-C649-4AAC-9FCF-4CE42219FA20}" destId="{B3656EED-E58D-41CF-BA66-770CC61EA2C3}" srcOrd="1" destOrd="0" presId="urn:microsoft.com/office/officeart/2016/7/layout/LinearArrowProcessNumbered"/>
    <dgm:cxn modelId="{EC5A1074-C4FC-46C1-AC09-74962315F2A3}" type="presParOf" srcId="{B3656EED-E58D-41CF-BA66-770CC61EA2C3}" destId="{9B703E64-102C-4B62-BA60-538B8588E56E}" srcOrd="0" destOrd="0" presId="urn:microsoft.com/office/officeart/2016/7/layout/LinearArrowProcessNumbered"/>
    <dgm:cxn modelId="{6072431D-E72E-48BD-9D9D-4A31A58B298F}" type="presParOf" srcId="{B3656EED-E58D-41CF-BA66-770CC61EA2C3}" destId="{019D60EB-FC98-4D6D-9D50-B8B33BD88BE6}" srcOrd="1" destOrd="0" presId="urn:microsoft.com/office/officeart/2016/7/layout/LinearArrowProcessNumbered"/>
    <dgm:cxn modelId="{F47D0A0F-7535-4ACF-ABD6-466E7C6CCDF7}" type="presParOf" srcId="{B3656EED-E58D-41CF-BA66-770CC61EA2C3}" destId="{6FB6588B-ED48-44A5-9AEB-E1F3CDCD91F8}" srcOrd="2" destOrd="0" presId="urn:microsoft.com/office/officeart/2016/7/layout/LinearArrowProcessNumbered"/>
    <dgm:cxn modelId="{FB9071AB-5B67-4AC6-94D3-31D574CA2461}" type="presParOf" srcId="{B3656EED-E58D-41CF-BA66-770CC61EA2C3}" destId="{6D272620-6FAF-411F-ADB9-463361F9D4C0}" srcOrd="3" destOrd="0" presId="urn:microsoft.com/office/officeart/2016/7/layout/LinearArrowProcessNumbered"/>
    <dgm:cxn modelId="{EAD9EBDE-74CB-47D7-947E-99C9C618CAA3}" type="presParOf" srcId="{AB680357-C649-4AAC-9FCF-4CE42219FA20}" destId="{D6307470-694C-473E-9C3E-88B6CBE5666A}" srcOrd="2" destOrd="0" presId="urn:microsoft.com/office/officeart/2016/7/layout/LinearArrowProcessNumbered"/>
    <dgm:cxn modelId="{E0A5CED6-A949-401B-834C-32A3C7174121}" type="presParOf" srcId="{C4468A6E-1748-41A6-8684-4B5F15F896FA}" destId="{D49CE1A7-2D93-4C95-A392-0BBB760CA632}" srcOrd="5" destOrd="0" presId="urn:microsoft.com/office/officeart/2016/7/layout/LinearArrowProcessNumbered"/>
    <dgm:cxn modelId="{52AFC9ED-2217-498C-AE99-E92DDC90083E}" type="presParOf" srcId="{C4468A6E-1748-41A6-8684-4B5F15F896FA}" destId="{63076CD2-F3BF-4713-8AEA-9270C58016FB}" srcOrd="6" destOrd="0" presId="urn:microsoft.com/office/officeart/2016/7/layout/LinearArrowProcessNumbered"/>
    <dgm:cxn modelId="{483EF2FE-F021-47D3-88E6-256244A34EBD}" type="presParOf" srcId="{63076CD2-F3BF-4713-8AEA-9270C58016FB}" destId="{42F4D051-2B10-4E75-9E6A-B8B65F359748}" srcOrd="0" destOrd="0" presId="urn:microsoft.com/office/officeart/2016/7/layout/LinearArrowProcessNumbered"/>
    <dgm:cxn modelId="{9B885030-57E9-4E94-95A0-F9F598977FC4}" type="presParOf" srcId="{63076CD2-F3BF-4713-8AEA-9270C58016FB}" destId="{3B8341DE-95F6-42D8-90BF-2687F056F7FF}" srcOrd="1" destOrd="0" presId="urn:microsoft.com/office/officeart/2016/7/layout/LinearArrowProcessNumbered"/>
    <dgm:cxn modelId="{2D9837FE-8502-46CB-B931-EE3BE1DA2083}" type="presParOf" srcId="{3B8341DE-95F6-42D8-90BF-2687F056F7FF}" destId="{5FC1954F-72B6-4EEF-B288-59AB067B24A5}" srcOrd="0" destOrd="0" presId="urn:microsoft.com/office/officeart/2016/7/layout/LinearArrowProcessNumbered"/>
    <dgm:cxn modelId="{1BB586BD-0A98-4627-89D2-448EE3E097CC}" type="presParOf" srcId="{3B8341DE-95F6-42D8-90BF-2687F056F7FF}" destId="{A193E37E-76A2-48C2-AEAB-B3A2CAEBCF60}" srcOrd="1" destOrd="0" presId="urn:microsoft.com/office/officeart/2016/7/layout/LinearArrowProcessNumbered"/>
    <dgm:cxn modelId="{C5E6DA63-8E87-47C3-8714-F3C28BCA97A9}" type="presParOf" srcId="{3B8341DE-95F6-42D8-90BF-2687F056F7FF}" destId="{4CF72785-FA07-4513-813F-C8EC7F6120C9}" srcOrd="2" destOrd="0" presId="urn:microsoft.com/office/officeart/2016/7/layout/LinearArrowProcessNumbered"/>
    <dgm:cxn modelId="{B68B6588-0C27-4298-8F14-9A8086AD0115}" type="presParOf" srcId="{3B8341DE-95F6-42D8-90BF-2687F056F7FF}" destId="{7B2A845F-1F3D-4ED6-88C9-1F7915EDEF97}" srcOrd="3" destOrd="0" presId="urn:microsoft.com/office/officeart/2016/7/layout/LinearArrowProcessNumbered"/>
    <dgm:cxn modelId="{182DCF96-54C4-478F-8263-1546D9B70C9C}" type="presParOf" srcId="{63076CD2-F3BF-4713-8AEA-9270C58016FB}" destId="{C5973B99-7CBA-4AAA-A6DB-966F13B71929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254E4-6EA8-4328-AB7A-9B0B6E2B46E1}">
      <dsp:nvSpPr>
        <dsp:cNvPr id="0" name=""/>
        <dsp:cNvSpPr/>
      </dsp:nvSpPr>
      <dsp:spPr>
        <a:xfrm>
          <a:off x="1169275" y="748429"/>
          <a:ext cx="931777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4DF94-1404-45BF-A758-D39E822B9ADE}">
      <dsp:nvSpPr>
        <dsp:cNvPr id="0" name=""/>
        <dsp:cNvSpPr/>
      </dsp:nvSpPr>
      <dsp:spPr>
        <a:xfrm>
          <a:off x="2156959" y="670119"/>
          <a:ext cx="107154" cy="20138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796E4-8E15-4C16-B0F0-CDCBE3CA8462}">
      <dsp:nvSpPr>
        <dsp:cNvPr id="0" name=""/>
        <dsp:cNvSpPr/>
      </dsp:nvSpPr>
      <dsp:spPr>
        <a:xfrm>
          <a:off x="575960" y="271622"/>
          <a:ext cx="953686" cy="9536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008" tIns="37008" rIns="37008" bIns="3700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1</a:t>
          </a:r>
        </a:p>
      </dsp:txBody>
      <dsp:txXfrm>
        <a:off x="715624" y="411286"/>
        <a:ext cx="674358" cy="674358"/>
      </dsp:txXfrm>
    </dsp:sp>
    <dsp:sp modelId="{5328AB2D-15A9-430B-8D17-339CB4CEB4EF}">
      <dsp:nvSpPr>
        <dsp:cNvPr id="0" name=""/>
        <dsp:cNvSpPr/>
      </dsp:nvSpPr>
      <dsp:spPr>
        <a:xfrm>
          <a:off x="4554" y="1390847"/>
          <a:ext cx="2096498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74" tIns="165100" rIns="165374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latin typeface="Gill Sans MT" panose="020B0502020104020203" pitchFamily="34" charset="0"/>
            </a:rPr>
            <a:t>Investigate the application of linear programming to enhance resource allocation in agriculture.</a:t>
          </a:r>
          <a:endParaRPr lang="en-US" sz="1800" kern="1200" dirty="0">
            <a:latin typeface="Gill Sans MT" panose="020B0502020104020203" pitchFamily="34" charset="0"/>
          </a:endParaRPr>
        </a:p>
      </dsp:txBody>
      <dsp:txXfrm>
        <a:off x="4554" y="1810147"/>
        <a:ext cx="2096498" cy="2037700"/>
      </dsp:txXfrm>
    </dsp:sp>
    <dsp:sp modelId="{46C2DC67-9485-4D17-A193-83F7994A836E}">
      <dsp:nvSpPr>
        <dsp:cNvPr id="0" name=""/>
        <dsp:cNvSpPr/>
      </dsp:nvSpPr>
      <dsp:spPr>
        <a:xfrm>
          <a:off x="2333997" y="748604"/>
          <a:ext cx="209649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8668D8-4F6D-4665-9BD0-BA28B2E34123}">
      <dsp:nvSpPr>
        <dsp:cNvPr id="0" name=""/>
        <dsp:cNvSpPr/>
      </dsp:nvSpPr>
      <dsp:spPr>
        <a:xfrm>
          <a:off x="4486402" y="670265"/>
          <a:ext cx="107154" cy="20153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14C93-D4C8-4BBD-9C81-802FB3432A44}">
      <dsp:nvSpPr>
        <dsp:cNvPr id="0" name=""/>
        <dsp:cNvSpPr/>
      </dsp:nvSpPr>
      <dsp:spPr>
        <a:xfrm>
          <a:off x="2905403" y="271796"/>
          <a:ext cx="953686" cy="9536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008" tIns="37008" rIns="37008" bIns="3700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2</a:t>
          </a:r>
        </a:p>
      </dsp:txBody>
      <dsp:txXfrm>
        <a:off x="3045067" y="411460"/>
        <a:ext cx="674358" cy="674358"/>
      </dsp:txXfrm>
    </dsp:sp>
    <dsp:sp modelId="{BC77B403-FFDC-457E-B469-3CD611EB478C}">
      <dsp:nvSpPr>
        <dsp:cNvPr id="0" name=""/>
        <dsp:cNvSpPr/>
      </dsp:nvSpPr>
      <dsp:spPr>
        <a:xfrm>
          <a:off x="2333997" y="1391257"/>
          <a:ext cx="2096498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74" tIns="165100" rIns="165374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latin typeface="Gill Sans MT" panose="020B0502020104020203" pitchFamily="34" charset="0"/>
            </a:rPr>
            <a:t>Identify key variables and constraints for a farmer-focused linear programming model.</a:t>
          </a:r>
          <a:endParaRPr lang="en-US" sz="1800" kern="1200" dirty="0">
            <a:latin typeface="Gill Sans MT" panose="020B0502020104020203" pitchFamily="34" charset="0"/>
          </a:endParaRPr>
        </a:p>
      </dsp:txBody>
      <dsp:txXfrm>
        <a:off x="2333997" y="1810557"/>
        <a:ext cx="2096498" cy="2037700"/>
      </dsp:txXfrm>
    </dsp:sp>
    <dsp:sp modelId="{9B703E64-102C-4B62-BA60-538B8588E56E}">
      <dsp:nvSpPr>
        <dsp:cNvPr id="0" name=""/>
        <dsp:cNvSpPr/>
      </dsp:nvSpPr>
      <dsp:spPr>
        <a:xfrm>
          <a:off x="4663440" y="748604"/>
          <a:ext cx="209649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D60EB-FC98-4D6D-9D50-B8B33BD88BE6}">
      <dsp:nvSpPr>
        <dsp:cNvPr id="0" name=""/>
        <dsp:cNvSpPr/>
      </dsp:nvSpPr>
      <dsp:spPr>
        <a:xfrm>
          <a:off x="6815845" y="670265"/>
          <a:ext cx="107154" cy="20153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6588B-ED48-44A5-9AEB-E1F3CDCD91F8}">
      <dsp:nvSpPr>
        <dsp:cNvPr id="0" name=""/>
        <dsp:cNvSpPr/>
      </dsp:nvSpPr>
      <dsp:spPr>
        <a:xfrm>
          <a:off x="5234846" y="271796"/>
          <a:ext cx="953686" cy="9536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008" tIns="37008" rIns="37008" bIns="3700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3</a:t>
          </a:r>
        </a:p>
      </dsp:txBody>
      <dsp:txXfrm>
        <a:off x="5374510" y="411460"/>
        <a:ext cx="674358" cy="674358"/>
      </dsp:txXfrm>
    </dsp:sp>
    <dsp:sp modelId="{D6307470-694C-473E-9C3E-88B6CBE5666A}">
      <dsp:nvSpPr>
        <dsp:cNvPr id="0" name=""/>
        <dsp:cNvSpPr/>
      </dsp:nvSpPr>
      <dsp:spPr>
        <a:xfrm>
          <a:off x="4663440" y="1391257"/>
          <a:ext cx="2096498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74" tIns="165100" rIns="165374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latin typeface="Gill Sans MT" panose="020B0502020104020203" pitchFamily="34" charset="0"/>
            </a:rPr>
            <a:t>Determine essential parameters and data sources for effective MATLAB implementation.</a:t>
          </a:r>
          <a:endParaRPr lang="en-US" sz="1800" kern="1200" dirty="0">
            <a:latin typeface="Gill Sans MT" panose="020B0502020104020203" pitchFamily="34" charset="0"/>
          </a:endParaRPr>
        </a:p>
      </dsp:txBody>
      <dsp:txXfrm>
        <a:off x="4663440" y="1810557"/>
        <a:ext cx="2096498" cy="2037700"/>
      </dsp:txXfrm>
    </dsp:sp>
    <dsp:sp modelId="{5FC1954F-72B6-4EEF-B288-59AB067B24A5}">
      <dsp:nvSpPr>
        <dsp:cNvPr id="0" name=""/>
        <dsp:cNvSpPr/>
      </dsp:nvSpPr>
      <dsp:spPr>
        <a:xfrm>
          <a:off x="6992882" y="748604"/>
          <a:ext cx="1048249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72785-FA07-4513-813F-C8EC7F6120C9}">
      <dsp:nvSpPr>
        <dsp:cNvPr id="0" name=""/>
        <dsp:cNvSpPr/>
      </dsp:nvSpPr>
      <dsp:spPr>
        <a:xfrm>
          <a:off x="7564289" y="271796"/>
          <a:ext cx="953686" cy="9536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008" tIns="37008" rIns="37008" bIns="3700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4</a:t>
          </a:r>
          <a:endParaRPr lang="en-US" sz="4200" kern="1200" dirty="0"/>
        </a:p>
      </dsp:txBody>
      <dsp:txXfrm>
        <a:off x="7703953" y="411460"/>
        <a:ext cx="674358" cy="674358"/>
      </dsp:txXfrm>
    </dsp:sp>
    <dsp:sp modelId="{C5973B99-7CBA-4AAA-A6DB-966F13B71929}">
      <dsp:nvSpPr>
        <dsp:cNvPr id="0" name=""/>
        <dsp:cNvSpPr/>
      </dsp:nvSpPr>
      <dsp:spPr>
        <a:xfrm>
          <a:off x="6992882" y="1391257"/>
          <a:ext cx="2096498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74" tIns="165100" rIns="165374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latin typeface="Gill Sans MT" panose="020B0502020104020203" pitchFamily="34" charset="0"/>
            </a:rPr>
            <a:t>Develop methods to communicate linear programming results to farm managers for informed decision-making.</a:t>
          </a:r>
          <a:endParaRPr lang="en-US" sz="1800" kern="1200" dirty="0">
            <a:latin typeface="Gill Sans MT" panose="020B0502020104020203" pitchFamily="34" charset="0"/>
          </a:endParaRPr>
        </a:p>
      </dsp:txBody>
      <dsp:txXfrm>
        <a:off x="6992882" y="1810557"/>
        <a:ext cx="2096498" cy="2037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30ABC1-F65B-4A71-929B-348677D720AD}" type="datetimeFigureOut">
              <a:rPr lang="en-ZA" smtClean="0"/>
              <a:t>2026/08/21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9C2D8-58F0-4010-8FA0-43A24C3C21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9898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29C2D8-58F0-4010-8FA0-43A24C3C21A8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1462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DF60-464C-4BD4-8D0A-3624F70F8F0E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4CA8-F650-4055-9541-1E017D8B8873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1801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9CE728-12A5-8DAB-B98F-485E8D27D7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1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A8D51-1E9B-4081-9BDD-D3361D3886B9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A915E-1F81-FD6F-ED3A-863D021E3F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3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B0A7-0E05-4A59-9704-66249F2DB4B6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8FDB91-499A-8710-90B9-F32272A951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2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AA33-B745-4BC3-A7A4-D355A3B07D87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897DD6-BC6B-1E62-F8EE-14DDDDE1DC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2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66AD8-C202-41FF-A62D-A144727F6E0D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55796F-11EF-BEF4-50D2-20ADEA729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1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A318-0514-4A73-AF9E-6FD7E8DE28C5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C2F09-E6C5-4052-F933-DA2DE7395C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3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222A4-F6FA-4A8C-B835-174C86BB7792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386D61-F9E3-31CE-049B-9BA0769255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0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48FF-BE5F-402F-88D0-0E42A85B39E9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1A5A7-FF1C-F8E0-7293-EFCED05A8F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2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2D48-62C4-4B3C-ABE0-5DCF990D9E2D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5386603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2D48-62C4-4B3C-ABE0-5DCF990D9E2D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0526698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2D48-62C4-4B3C-ABE0-5DCF990D9E2D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31302246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2D48-62C4-4B3C-ABE0-5DCF990D9E2D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1504924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2D48-62C4-4B3C-ABE0-5DCF990D9E2D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68333297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2D48-62C4-4B3C-ABE0-5DCF990D9E2D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57155393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3A4F-CABF-4398-994B-8C345006B0B3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C7AEB5-8296-4981-73DD-FC0546E35C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59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FC908-19E6-4536-8040-5F510F63B829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9C7D70-D68B-9C5D-50A3-938F19EF12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3242D48-62C4-4B3C-ABE0-5DCF990D9E2D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6CEA51-4EA5-4D1B-B637-41B56B206FA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1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2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8280/ijdne.150215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rojectmanager.com/blog/resource-allocation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land1210190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64080D6-34DE-4277-97CC-2FB381284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Farm field with buildings">
            <a:extLst>
              <a:ext uri="{FF2B5EF4-FFF2-40B4-BE49-F238E27FC236}">
                <a16:creationId xmlns:a16="http://schemas.microsoft.com/office/drawing/2014/main" id="{CBB58E99-47A0-4173-CE4E-AA07A55970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26948"/>
          <a:stretch/>
        </p:blipFill>
        <p:spPr>
          <a:xfrm>
            <a:off x="0" y="10"/>
            <a:ext cx="12191675" cy="685799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0" lang="en-US" altLang="en-US" sz="4200" b="1" i="0" u="none" strike="noStrike" cap="none" normalizeH="0" baseline="0" dirty="0">
                <a:ln>
                  <a:noFill/>
                </a:ln>
                <a:effectLst/>
              </a:rPr>
              <a:t> FARM RESOURCE ALLOCATION PROBLEM: A CASE STUDY OF A FARM IN QUEENSTOWN, EASTERN CAPE SOUTH AFRICA</a:t>
            </a:r>
            <a:endParaRPr lang="en-ZA" sz="4200" dirty="0"/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>
            <a:normAutofit/>
          </a:bodyPr>
          <a:lstStyle/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Nqabakazi Dyantyi, Dr G.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Buzuzi</a:t>
            </a:r>
            <a:endParaRPr lang="en-ZA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7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700"/>
              <a:t>Department of Mathematics &amp; Physics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4AF0AD1-B766-432B-BF86-45FD7A2A5449}" type="datetime3">
              <a:rPr lang="en-ZA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10951856" y="588327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BAB4CA8-F650-4055-9541-1E017D8B8873}" type="slidenum">
              <a:rPr lang="en-ZA"/>
              <a:pPr>
                <a:spcAft>
                  <a:spcPts val="600"/>
                </a:spcAft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8762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aph on document with pen">
            <a:extLst>
              <a:ext uri="{FF2B5EF4-FFF2-40B4-BE49-F238E27FC236}">
                <a16:creationId xmlns:a16="http://schemas.microsoft.com/office/drawing/2014/main" id="{7A66A8C6-E37B-1E30-CDCF-D255F40ECA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1414" r="-1" b="14313"/>
          <a:stretch/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080" y="518160"/>
            <a:ext cx="7746376" cy="1082039"/>
          </a:xfrm>
        </p:spPr>
        <p:txBody>
          <a:bodyPr>
            <a:normAutofit/>
          </a:bodyPr>
          <a:lstStyle/>
          <a:p>
            <a:r>
              <a:rPr lang="en-ZA" dirty="0">
                <a:latin typeface="Gill Sans MT" panose="020B0502020104020203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971041"/>
            <a:ext cx="9979023" cy="382016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8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Resource allocation is </a:t>
            </a:r>
            <a:r>
              <a:rPr lang="en-US" sz="1800" dirty="0"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challenge for various farmers worldwide.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8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Experts have studied this all over the world showing the challenge of resource allocation in agriculture.</a:t>
            </a:r>
            <a:endParaRPr lang="en-US" sz="1800" dirty="0">
              <a:latin typeface="Gill Sans MT" panose="020B05020201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8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Scholars such as </a:t>
            </a: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Bhatia &amp; Bhat (2019:155) express issues experienced by farmers in the northern region of India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800" dirty="0"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Scholars such as </a:t>
            </a: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Miao et al (2023:7) express similar problems in China 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800" dirty="0"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South Africa,  scholars such as </a:t>
            </a: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Muzhinji &amp; Ndou (2022:21056) highlight the resource allocation challenges within the agricultural sector,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0E92323-7ABC-4498-80E8-B6DCDA8BA80E}" type="datetime3">
              <a:rPr lang="en-ZA" smtClean="0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500"/>
              <a:t>Department of Mathematics &amp; 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149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Magnifying glass showing decling performance">
            <a:extLst>
              <a:ext uri="{FF2B5EF4-FFF2-40B4-BE49-F238E27FC236}">
                <a16:creationId xmlns:a16="http://schemas.microsoft.com/office/drawing/2014/main" id="{23A00939-55D7-F38D-4980-0BE4283167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1219" r="-1" b="14509"/>
          <a:stretch/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89095E-BE06-7A9D-114E-9BBDA9DF1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280" y="685801"/>
            <a:ext cx="9135744" cy="787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 PROBLEM STATEMENT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FCAD8A4-8E69-62AE-5F54-48A992054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279" y="1879600"/>
            <a:ext cx="9135744" cy="49784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>
                <a:latin typeface="Gill Sans MT" panose="020B0502020104020203" pitchFamily="34" charset="0"/>
              </a:rPr>
              <a:t>Farm managers encounter resource allocation challenges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Gill Sans MT" panose="020B0502020104020203" pitchFamily="34" charset="0"/>
              </a:rPr>
              <a:t>They strive to maximize profit margins 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Gill Sans MT" panose="020B0502020104020203" pitchFamily="34" charset="0"/>
              </a:rPr>
              <a:t>While managing income, space, and labor limitations.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Gill Sans MT" panose="020B0502020104020203" pitchFamily="34" charset="0"/>
              </a:rPr>
              <a:t> To tackle this, we introduced a linear programming model, executed via the simplex method in MATLAB,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Gill Sans MT" panose="020B0502020104020203" pitchFamily="34" charset="0"/>
              </a:rPr>
              <a:t> specifically adapted for agricultural applications. 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Gill Sans MT" panose="020B0502020104020203" pitchFamily="34" charset="0"/>
              </a:rPr>
              <a:t>This method has a proven track record of resolving similar allocation issues in other sectors,  leading to cost reductions. 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Gill Sans MT" panose="020B0502020104020203" pitchFamily="34" charset="0"/>
              </a:rPr>
              <a:t>Adopting this model leads: 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Gill Sans MT" panose="020B0502020104020203" pitchFamily="34" charset="0"/>
              </a:rPr>
              <a:t> to agricultural resource management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Gill Sans MT" panose="020B0502020104020203" pitchFamily="34" charset="0"/>
              </a:rPr>
              <a:t>potentially saving thousands of rands 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latin typeface="Gill Sans MT" panose="020B0502020104020203" pitchFamily="34" charset="0"/>
              </a:rPr>
              <a:t>Boosting efficiency within the farm </a:t>
            </a:r>
          </a:p>
          <a:p>
            <a:pPr marL="0" indent="0">
              <a:lnSpc>
                <a:spcPct val="110000"/>
              </a:lnSpc>
              <a:buNone/>
            </a:pPr>
            <a:endParaRPr lang="en-ZA" sz="1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32D5E-A59C-D46D-97F0-1713D9357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56441-A3A9-2E9E-78C2-9AA4E477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Department of Mathematics &amp; Physics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696D1-61AD-0B6A-BFD0-F445DF72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5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70A4-2F2B-6091-A021-5C38C559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OBJECTIVES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A808D189-5A39-EF90-C27F-47915EDEA6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504675"/>
              </p:ext>
            </p:extLst>
          </p:nvPr>
        </p:nvGraphicFramePr>
        <p:xfrm>
          <a:off x="1788160" y="2052321"/>
          <a:ext cx="9326880" cy="4119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ABD67-75A4-EE1E-D06B-0882E47E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 smtClean="0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C3D31-7C2B-2630-77C2-AD880557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500"/>
              <a:t>Department of Mathematics &amp; Physics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A5917-630B-FC75-02F0-C2100E77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192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F58C-FE47-0434-7473-1E63CA79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59" y="213360"/>
            <a:ext cx="11188065" cy="138544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>
                <a:latin typeface="Gill Sans MT" panose="020B0502020104020203" pitchFamily="34" charset="0"/>
                <a:cs typeface="Times New Roman" panose="02020603050405020304" pitchFamily="18" charset="0"/>
              </a:rPr>
              <a:t>METHODOLOGY </a:t>
            </a:r>
            <a:br>
              <a:rPr lang="en-US" dirty="0">
                <a:latin typeface="Gill Sans MT" panose="020B0502020104020203" pitchFamily="34" charset="0"/>
                <a:cs typeface="Times New Roman" panose="02020603050405020304" pitchFamily="18" charset="0"/>
              </a:rPr>
            </a:br>
            <a:br>
              <a:rPr lang="en-US" dirty="0">
                <a:latin typeface="Gill Sans MT" panose="020B0502020104020203" pitchFamily="34" charset="0"/>
                <a:cs typeface="Times New Roman" panose="02020603050405020304" pitchFamily="18" charset="0"/>
              </a:rPr>
            </a:br>
            <a:r>
              <a:rPr lang="en-ZA" sz="2000" dirty="0">
                <a:latin typeface="Gill Sans MT" panose="020B0502020104020203" pitchFamily="34" charset="0"/>
              </a:rPr>
              <a:t>Table 1: Farmer’s resource allocation plan before Linear Programming </a:t>
            </a:r>
            <a:br>
              <a:rPr lang="en-ZA" dirty="0"/>
            </a:br>
            <a:endParaRPr lang="en-US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5E854-5B80-BD4B-287E-88FB92B5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 smtClean="0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C5DDC-2116-9A15-5098-533682B8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71611-46FB-3065-F65B-7390A745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C92BA-7920-59B4-2FA7-0654E03A1310}"/>
              </a:ext>
            </a:extLst>
          </p:cNvPr>
          <p:cNvSpPr txBox="1"/>
          <p:nvPr/>
        </p:nvSpPr>
        <p:spPr>
          <a:xfrm>
            <a:off x="1451579" y="201573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20000"/>
              </a:lnSpc>
              <a:spcAft>
                <a:spcPts val="800"/>
              </a:spcAft>
              <a:buClr>
                <a:schemeClr val="accent1"/>
              </a:buClr>
              <a:buSzPct val="100000"/>
            </a:pPr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A4CBBBA-2697-75A7-C5FA-DC21142380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0777517"/>
              </p:ext>
            </p:extLst>
          </p:nvPr>
        </p:nvGraphicFramePr>
        <p:xfrm>
          <a:off x="314959" y="1717040"/>
          <a:ext cx="11409678" cy="49276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3879">
                  <a:extLst>
                    <a:ext uri="{9D8B030D-6E8A-4147-A177-3AD203B41FA5}">
                      <a16:colId xmlns:a16="http://schemas.microsoft.com/office/drawing/2014/main" val="3532987836"/>
                    </a:ext>
                  </a:extLst>
                </a:gridCol>
                <a:gridCol w="1670418">
                  <a:extLst>
                    <a:ext uri="{9D8B030D-6E8A-4147-A177-3AD203B41FA5}">
                      <a16:colId xmlns:a16="http://schemas.microsoft.com/office/drawing/2014/main" val="2109457878"/>
                    </a:ext>
                  </a:extLst>
                </a:gridCol>
                <a:gridCol w="1536648">
                  <a:extLst>
                    <a:ext uri="{9D8B030D-6E8A-4147-A177-3AD203B41FA5}">
                      <a16:colId xmlns:a16="http://schemas.microsoft.com/office/drawing/2014/main" val="659087487"/>
                    </a:ext>
                  </a:extLst>
                </a:gridCol>
                <a:gridCol w="1670418">
                  <a:extLst>
                    <a:ext uri="{9D8B030D-6E8A-4147-A177-3AD203B41FA5}">
                      <a16:colId xmlns:a16="http://schemas.microsoft.com/office/drawing/2014/main" val="3685677489"/>
                    </a:ext>
                  </a:extLst>
                </a:gridCol>
                <a:gridCol w="1754324">
                  <a:extLst>
                    <a:ext uri="{9D8B030D-6E8A-4147-A177-3AD203B41FA5}">
                      <a16:colId xmlns:a16="http://schemas.microsoft.com/office/drawing/2014/main" val="1129037589"/>
                    </a:ext>
                  </a:extLst>
                </a:gridCol>
                <a:gridCol w="1636263">
                  <a:extLst>
                    <a:ext uri="{9D8B030D-6E8A-4147-A177-3AD203B41FA5}">
                      <a16:colId xmlns:a16="http://schemas.microsoft.com/office/drawing/2014/main" val="370593751"/>
                    </a:ext>
                  </a:extLst>
                </a:gridCol>
                <a:gridCol w="1257728">
                  <a:extLst>
                    <a:ext uri="{9D8B030D-6E8A-4147-A177-3AD203B41FA5}">
                      <a16:colId xmlns:a16="http://schemas.microsoft.com/office/drawing/2014/main" val="1382841993"/>
                    </a:ext>
                  </a:extLst>
                </a:gridCol>
              </a:tblGrid>
              <a:tr h="32895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 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 gridSpan="6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                                      Crops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475990"/>
                  </a:ext>
                </a:extLst>
              </a:tr>
              <a:tr h="41874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Resources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Cabbage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Spinach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Butternut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Tomatoes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Potatoes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Maize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extLst>
                  <a:ext uri="{0D108BD9-81ED-4DB2-BD59-A6C34878D82A}">
                    <a16:rowId xmlns:a16="http://schemas.microsoft.com/office/drawing/2014/main" val="986585822"/>
                  </a:ext>
                </a:extLst>
              </a:tr>
              <a:tr h="41874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Land(ha)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  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0.23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extLst>
                  <a:ext uri="{0D108BD9-81ED-4DB2-BD59-A6C34878D82A}">
                    <a16:rowId xmlns:a16="http://schemas.microsoft.com/office/drawing/2014/main" val="4165612239"/>
                  </a:ext>
                </a:extLst>
              </a:tr>
              <a:tr h="6268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Labor (people)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5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extLst>
                  <a:ext uri="{0D108BD9-81ED-4DB2-BD59-A6C34878D82A}">
                    <a16:rowId xmlns:a16="http://schemas.microsoft.com/office/drawing/2014/main" val="1761508918"/>
                  </a:ext>
                </a:extLst>
              </a:tr>
              <a:tr h="6268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Fertilizer cost 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2 120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2 120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1 770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2 655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1 770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3 540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extLst>
                  <a:ext uri="{0D108BD9-81ED-4DB2-BD59-A6C34878D82A}">
                    <a16:rowId xmlns:a16="http://schemas.microsoft.com/office/drawing/2014/main" val="2033768000"/>
                  </a:ext>
                </a:extLst>
              </a:tr>
              <a:tr h="6268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Chemical cost (R)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2 985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2 985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2 985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1 990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2 985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2 985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extLst>
                  <a:ext uri="{0D108BD9-81ED-4DB2-BD59-A6C34878D82A}">
                    <a16:rowId xmlns:a16="http://schemas.microsoft.com/office/drawing/2014/main" val="1208139245"/>
                  </a:ext>
                </a:extLst>
              </a:tr>
              <a:tr h="6268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Seed cost 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40 000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40 000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  6 300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80 000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extLst>
                  <a:ext uri="{0D108BD9-81ED-4DB2-BD59-A6C34878D82A}">
                    <a16:rowId xmlns:a16="http://schemas.microsoft.com/office/drawing/2014/main" val="2642565591"/>
                  </a:ext>
                </a:extLst>
              </a:tr>
              <a:tr h="6268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Expenses 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45 105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45 105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14 755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11 945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14 755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86 525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extLst>
                  <a:ext uri="{0D108BD9-81ED-4DB2-BD59-A6C34878D82A}">
                    <a16:rowId xmlns:a16="http://schemas.microsoft.com/office/drawing/2014/main" val="3355593544"/>
                  </a:ext>
                </a:extLst>
              </a:tr>
              <a:tr h="6268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Income(R)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800 000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280 000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800 000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37 800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800 000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2 400 000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6694" marR="76694" marT="0" marB="0"/>
                </a:tc>
                <a:extLst>
                  <a:ext uri="{0D108BD9-81ED-4DB2-BD59-A6C34878D82A}">
                    <a16:rowId xmlns:a16="http://schemas.microsoft.com/office/drawing/2014/main" val="1258349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925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F58C-FE47-0434-7473-1E63CA79B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Gill Sans MT" panose="020B0502020104020203" pitchFamily="34" charset="0"/>
                <a:cs typeface="Times New Roman" panose="02020603050405020304" pitchFamily="18" charset="0"/>
              </a:rPr>
              <a:t>Table 2: Farmer’s resource allocation plan per hectare before Linear Programming</a:t>
            </a:r>
          </a:p>
        </p:txBody>
      </p:sp>
      <p:graphicFrame>
        <p:nvGraphicFramePr>
          <p:cNvPr id="8" name="Content Placeholder 11">
            <a:extLst>
              <a:ext uri="{FF2B5EF4-FFF2-40B4-BE49-F238E27FC236}">
                <a16:creationId xmlns:a16="http://schemas.microsoft.com/office/drawing/2014/main" id="{4116F31A-DC4C-CCA7-92B0-A662B34C7C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6559951"/>
              </p:ext>
            </p:extLst>
          </p:nvPr>
        </p:nvGraphicFramePr>
        <p:xfrm>
          <a:off x="203200" y="1209040"/>
          <a:ext cx="11643357" cy="52628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1843">
                  <a:extLst>
                    <a:ext uri="{9D8B030D-6E8A-4147-A177-3AD203B41FA5}">
                      <a16:colId xmlns:a16="http://schemas.microsoft.com/office/drawing/2014/main" val="2355589330"/>
                    </a:ext>
                  </a:extLst>
                </a:gridCol>
                <a:gridCol w="1425864">
                  <a:extLst>
                    <a:ext uri="{9D8B030D-6E8A-4147-A177-3AD203B41FA5}">
                      <a16:colId xmlns:a16="http://schemas.microsoft.com/office/drawing/2014/main" val="2584726237"/>
                    </a:ext>
                  </a:extLst>
                </a:gridCol>
                <a:gridCol w="1315090">
                  <a:extLst>
                    <a:ext uri="{9D8B030D-6E8A-4147-A177-3AD203B41FA5}">
                      <a16:colId xmlns:a16="http://schemas.microsoft.com/office/drawing/2014/main" val="2401714081"/>
                    </a:ext>
                  </a:extLst>
                </a:gridCol>
                <a:gridCol w="1431141">
                  <a:extLst>
                    <a:ext uri="{9D8B030D-6E8A-4147-A177-3AD203B41FA5}">
                      <a16:colId xmlns:a16="http://schemas.microsoft.com/office/drawing/2014/main" val="3848922963"/>
                    </a:ext>
                  </a:extLst>
                </a:gridCol>
                <a:gridCol w="1500667">
                  <a:extLst>
                    <a:ext uri="{9D8B030D-6E8A-4147-A177-3AD203B41FA5}">
                      <a16:colId xmlns:a16="http://schemas.microsoft.com/office/drawing/2014/main" val="4079576039"/>
                    </a:ext>
                  </a:extLst>
                </a:gridCol>
                <a:gridCol w="1402129">
                  <a:extLst>
                    <a:ext uri="{9D8B030D-6E8A-4147-A177-3AD203B41FA5}">
                      <a16:colId xmlns:a16="http://schemas.microsoft.com/office/drawing/2014/main" val="3112378777"/>
                    </a:ext>
                  </a:extLst>
                </a:gridCol>
                <a:gridCol w="1175296">
                  <a:extLst>
                    <a:ext uri="{9D8B030D-6E8A-4147-A177-3AD203B41FA5}">
                      <a16:colId xmlns:a16="http://schemas.microsoft.com/office/drawing/2014/main" val="3910220555"/>
                    </a:ext>
                  </a:extLst>
                </a:gridCol>
                <a:gridCol w="1421327">
                  <a:extLst>
                    <a:ext uri="{9D8B030D-6E8A-4147-A177-3AD203B41FA5}">
                      <a16:colId xmlns:a16="http://schemas.microsoft.com/office/drawing/2014/main" val="2524751489"/>
                    </a:ext>
                  </a:extLst>
                </a:gridCol>
              </a:tblGrid>
              <a:tr h="41279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600" kern="100" dirty="0">
                          <a:effectLst/>
                        </a:rPr>
                        <a:t> </a:t>
                      </a:r>
                      <a:endParaRPr lang="en-ZA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 gridSpan="6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                                      Crops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 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extLst>
                  <a:ext uri="{0D108BD9-81ED-4DB2-BD59-A6C34878D82A}">
                    <a16:rowId xmlns:a16="http://schemas.microsoft.com/office/drawing/2014/main" val="1542345284"/>
                  </a:ext>
                </a:extLst>
              </a:tr>
              <a:tr h="4189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Resources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Cabbage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Spinach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Butternut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Tomatoes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Potatoes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Maize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Available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extLst>
                  <a:ext uri="{0D108BD9-81ED-4DB2-BD59-A6C34878D82A}">
                    <a16:rowId xmlns:a16="http://schemas.microsoft.com/office/drawing/2014/main" val="2423854913"/>
                  </a:ext>
                </a:extLst>
              </a:tr>
              <a:tr h="4189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Land(ha)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39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extLst>
                  <a:ext uri="{0D108BD9-81ED-4DB2-BD59-A6C34878D82A}">
                    <a16:rowId xmlns:a16="http://schemas.microsoft.com/office/drawing/2014/main" val="3239776080"/>
                  </a:ext>
                </a:extLst>
              </a:tr>
              <a:tr h="4189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Labor(people)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2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22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5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extLst>
                  <a:ext uri="{0D108BD9-81ED-4DB2-BD59-A6C34878D82A}">
                    <a16:rowId xmlns:a16="http://schemas.microsoft.com/office/drawing/2014/main" val="1045685386"/>
                  </a:ext>
                </a:extLst>
              </a:tr>
              <a:tr h="79355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Fertilizer cost 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424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424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1 770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11 728.07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885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1 770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60 000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extLst>
                  <a:ext uri="{0D108BD9-81ED-4DB2-BD59-A6C34878D82A}">
                    <a16:rowId xmlns:a16="http://schemas.microsoft.com/office/drawing/2014/main" val="2898567940"/>
                  </a:ext>
                </a:extLst>
              </a:tr>
              <a:tr h="79355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Chemical cost 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597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597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2 985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8 790.53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1 492.50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1 492.50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50 000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extLst>
                  <a:ext uri="{0D108BD9-81ED-4DB2-BD59-A6C34878D82A}">
                    <a16:rowId xmlns:a16="http://schemas.microsoft.com/office/drawing/2014/main" val="1256166904"/>
                  </a:ext>
                </a:extLst>
              </a:tr>
              <a:tr h="41896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Seed cost 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8 000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8 000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27 829.31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5 000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40 000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200 000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extLst>
                  <a:ext uri="{0D108BD9-81ED-4DB2-BD59-A6C34878D82A}">
                    <a16:rowId xmlns:a16="http://schemas.microsoft.com/office/drawing/2014/main" val="3488537562"/>
                  </a:ext>
                </a:extLst>
              </a:tr>
              <a:tr h="79355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Expenses 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9 021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9 021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14 755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52 765.26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7 377.50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43 262.50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 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extLst>
                  <a:ext uri="{0D108BD9-81ED-4DB2-BD59-A6C34878D82A}">
                    <a16:rowId xmlns:a16="http://schemas.microsoft.com/office/drawing/2014/main" val="1862255198"/>
                  </a:ext>
                </a:extLst>
              </a:tr>
              <a:tr h="79355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Income(R)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160 000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160 000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800 000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166 975.88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400 000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1 200 000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 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543" marR="48543" marT="0" marB="0"/>
                </a:tc>
                <a:extLst>
                  <a:ext uri="{0D108BD9-81ED-4DB2-BD59-A6C34878D82A}">
                    <a16:rowId xmlns:a16="http://schemas.microsoft.com/office/drawing/2014/main" val="129495010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5E854-5B80-BD4B-287E-88FB92B5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 smtClean="0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C5DDC-2116-9A15-5098-533682B8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71611-46FB-3065-F65B-7390A745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C92BA-7920-59B4-2FA7-0654E03A1310}"/>
              </a:ext>
            </a:extLst>
          </p:cNvPr>
          <p:cNvSpPr txBox="1"/>
          <p:nvPr/>
        </p:nvSpPr>
        <p:spPr>
          <a:xfrm>
            <a:off x="1451579" y="201573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20000"/>
              </a:lnSpc>
              <a:spcAft>
                <a:spcPts val="800"/>
              </a:spcAft>
              <a:buClr>
                <a:schemeClr val="accent1"/>
              </a:buClr>
              <a:buSzPct val="10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824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F58C-FE47-0434-7473-1E63CA79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0" y="71121"/>
            <a:ext cx="10761344" cy="6908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of the problem</a:t>
            </a:r>
            <a:endParaRPr lang="en-US" sz="28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5E854-5B80-BD4B-287E-88FB92B5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 smtClean="0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C5DDC-2116-9A15-5098-533682B8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71611-46FB-3065-F65B-7390A745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C92BA-7920-59B4-2FA7-0654E03A1310}"/>
              </a:ext>
            </a:extLst>
          </p:cNvPr>
          <p:cNvSpPr txBox="1"/>
          <p:nvPr/>
        </p:nvSpPr>
        <p:spPr>
          <a:xfrm>
            <a:off x="1451579" y="201573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20000"/>
              </a:lnSpc>
              <a:spcAft>
                <a:spcPts val="800"/>
              </a:spcAft>
              <a:buClr>
                <a:schemeClr val="accent1"/>
              </a:buClr>
              <a:buSzPct val="100000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FFAA359-9CBA-3368-EB11-E8984B75C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75360"/>
                <a:ext cx="12192000" cy="523213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Linear Programming Problem (LPP) is given by:</a:t>
                </a:r>
                <a:endParaRPr lang="en-ZA" sz="2300" dirty="0">
                  <a:effectLst/>
                  <a:latin typeface="Gill Sans MT" panose="020B0502020104020203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ZA" sz="2300" kern="100" dirty="0">
                    <a:effectLst/>
                    <a:latin typeface="Gill Sans MT" panose="020B0502020104020203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Maximize  </a:t>
                </a:r>
                <a14:m>
                  <m:oMath xmlns:m="http://schemas.openxmlformats.org/officeDocument/2006/math">
                    <m:r>
                      <a:rPr lang="en-ZA" sz="23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𝑧</m:t>
                    </m:r>
                    <m:r>
                      <a:rPr lang="en-ZA" sz="23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naryPr>
                      <m:sub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ZA" sz="2300" kern="100" dirty="0">
                    <a:effectLst/>
                    <a:latin typeface="Gill Sans MT" panose="020B0502020104020203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(objective function) </a:t>
                </a:r>
                <a:endParaRPr lang="en-ZA" sz="2300" dirty="0">
                  <a:effectLst/>
                  <a:latin typeface="Gill Sans MT" panose="020B0502020104020203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ZA" sz="2300" kern="100" dirty="0">
                    <a:effectLst/>
                    <a:latin typeface="Gill Sans MT" panose="020B0502020104020203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Subject to these constraints: </a:t>
                </a:r>
                <a:endParaRPr lang="en-ZA" sz="2300" dirty="0">
                  <a:effectLst/>
                  <a:latin typeface="Gill Sans MT" panose="020B0502020104020203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ZA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1</m:t>
                                </m:r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e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1</m:t>
                                </m:r>
                                <m:r>
                                  <a:rPr lang="en-ZA" sz="23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2</m:t>
                                </m:r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e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⋮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𝑚</m:t>
                                </m:r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𝑚</m:t>
                                </m:r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𝑚𝑛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e>
                            <m:r>
                              <a:rPr lang="en-ZA" sz="23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ZA" sz="23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ZA" sz="2300" dirty="0">
                  <a:effectLst/>
                  <a:latin typeface="Gill Sans MT" panose="020B0502020104020203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ZA" sz="2300" kern="100" dirty="0">
                    <a:effectLst/>
                    <a:latin typeface="Gill Sans MT" panose="020B0502020104020203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Where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ZA" sz="23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≥0, </m:t>
                    </m:r>
                    <m:r>
                      <a:rPr lang="en-ZA" sz="23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  <m:r>
                      <a:rPr lang="en-ZA" sz="23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=1,2,…,</m:t>
                    </m:r>
                    <m:r>
                      <a:rPr lang="en-ZA" sz="23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</m:t>
                    </m:r>
                  </m:oMath>
                </a14:m>
                <a:endParaRPr lang="en-ZA" sz="2300" dirty="0">
                  <a:effectLst/>
                  <a:latin typeface="Gill Sans MT" panose="020B0502020104020203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ZA" sz="2300" kern="100" dirty="0">
                    <a:effectLst/>
                    <a:latin typeface="Gill Sans MT" panose="020B0502020104020203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are the decision variables associated with the </a:t>
                </a:r>
                <a14:m>
                  <m:oMath xmlns:m="http://schemas.openxmlformats.org/officeDocument/2006/math">
                    <m:r>
                      <a:rPr lang="en-ZA" sz="23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</m:oMath>
                </a14:m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en-ZA" sz="2300" kern="100" dirty="0" err="1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crop (e.g.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represents the area allocated to cabbage) </a:t>
                </a:r>
                <a:endParaRPr lang="en-ZA" sz="2300" dirty="0">
                  <a:effectLst/>
                  <a:latin typeface="Gill Sans MT" panose="020B0502020104020203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ZA" sz="2300" kern="100" dirty="0">
                    <a:effectLst/>
                    <a:latin typeface="Gill Sans MT" panose="020B0502020104020203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are </a:t>
                </a:r>
                <a:r>
                  <a:rPr lang="en-ZA" sz="2300" dirty="0">
                    <a:latin typeface="Gill Sans MT" panose="020B0502020104020203" pitchFamily="34" charset="0"/>
                    <a:cs typeface="Times New Roman" panose="02020603050405020304" pitchFamily="18" charset="0"/>
                  </a:rPr>
                  <a:t>coefficients that represent the income generated per hectare of each decision variable</a:t>
                </a:r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:endParaRPr lang="en-ZA" sz="2300" dirty="0">
                  <a:effectLst/>
                  <a:latin typeface="Gill Sans MT" panose="020B0502020104020203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are the upper bounds of the constraints. </a:t>
                </a:r>
                <a:endParaRPr lang="en-ZA" sz="2300" dirty="0">
                  <a:effectLst/>
                  <a:latin typeface="Gill Sans MT" panose="020B0502020104020203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ZA" sz="23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are the production coefficients in the constraint where </a:t>
                </a:r>
                <a14:m>
                  <m:oMath xmlns:m="http://schemas.openxmlformats.org/officeDocument/2006/math">
                    <m:r>
                      <a:rPr lang="en-ZA" sz="23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denotes the row and </a:t>
                </a:r>
                <a14:m>
                  <m:oMath xmlns:m="http://schemas.openxmlformats.org/officeDocument/2006/math">
                    <m:r>
                      <a:rPr lang="en-ZA" sz="23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ZA" sz="2300" kern="100" dirty="0">
                    <a:effectLst/>
                    <a:latin typeface="Gill Sans MT" panose="020B0502020104020203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denotes the column</a:t>
                </a:r>
                <a:endParaRPr lang="en-ZA" sz="2300" dirty="0">
                  <a:latin typeface="Gill Sans MT" panose="020B0502020104020203" pitchFamily="34" charset="0"/>
                  <a:cs typeface="Times New Roman" panose="02020603050405020304" pitchFamily="18" charset="0"/>
                </a:endParaRPr>
              </a:p>
              <a:p>
                <a:endParaRPr lang="en-ZA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FFAA359-9CBA-3368-EB11-E8984B75C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75360"/>
                <a:ext cx="12192000" cy="5232133"/>
              </a:xfrm>
              <a:blipFill>
                <a:blip r:embed="rId4"/>
                <a:stretch>
                  <a:fillRect l="-600" t="-3963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3269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F58C-FE47-0434-7473-1E63CA79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0" y="71121"/>
            <a:ext cx="10761344" cy="6908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of the problem continued</a:t>
            </a:r>
            <a:endParaRPr lang="en-US" sz="28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5E854-5B80-BD4B-287E-88FB92B5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 smtClean="0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C5DDC-2116-9A15-5098-533682B8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71611-46FB-3065-F65B-7390A745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C92BA-7920-59B4-2FA7-0654E03A1310}"/>
              </a:ext>
            </a:extLst>
          </p:cNvPr>
          <p:cNvSpPr txBox="1"/>
          <p:nvPr/>
        </p:nvSpPr>
        <p:spPr>
          <a:xfrm>
            <a:off x="1451579" y="201573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20000"/>
              </a:lnSpc>
              <a:spcAft>
                <a:spcPts val="800"/>
              </a:spcAft>
              <a:buClr>
                <a:schemeClr val="accent1"/>
              </a:buClr>
              <a:buSzPct val="100000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FFAA359-9CBA-3368-EB11-E8984B75C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75360"/>
                <a:ext cx="12192000" cy="523213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spcAft>
                    <a:spcPts val="600"/>
                  </a:spcAft>
                  <a:buNone/>
                </a:pPr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  <m:r>
                      <a:rPr lang="en-ZA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</m:oMath>
                </a14:m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 </a:t>
                </a:r>
                <a:r>
                  <a:rPr lang="en-ZA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 the area allocated for cabbage per ha.</a:t>
                </a:r>
              </a:p>
              <a:p>
                <a:pPr marL="0" indent="0" algn="just">
                  <a:lnSpc>
                    <a:spcPct val="150000"/>
                  </a:lnSpc>
                  <a:spcAft>
                    <a:spcPts val="600"/>
                  </a:spcAft>
                  <a:buNone/>
                </a:pPr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 </a:t>
                </a:r>
                <a:r>
                  <a:rPr lang="en-ZA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 the area allocated for spinach per ha.</a:t>
                </a:r>
              </a:p>
              <a:p>
                <a:pPr marL="0" indent="0" algn="just">
                  <a:lnSpc>
                    <a:spcPct val="150000"/>
                  </a:lnSpc>
                  <a:spcAft>
                    <a:spcPts val="600"/>
                  </a:spcAft>
                  <a:buNone/>
                </a:pPr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3</m:t>
                        </m:r>
                      </m:sub>
                    </m:sSub>
                    <m:r>
                      <a:rPr lang="en-ZA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</m:oMath>
                </a14:m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</a:t>
                </a:r>
                <a:r>
                  <a:rPr lang="en-ZA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 the area allocated for butternut per ha.</a:t>
                </a:r>
              </a:p>
              <a:p>
                <a:pPr marL="0" indent="0" algn="just">
                  <a:lnSpc>
                    <a:spcPct val="150000"/>
                  </a:lnSpc>
                  <a:spcAft>
                    <a:spcPts val="600"/>
                  </a:spcAft>
                  <a:buNone/>
                </a:pPr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 </a:t>
                </a:r>
                <a:r>
                  <a:rPr lang="en-ZA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 the area allocated for tomatoes per ha.</a:t>
                </a:r>
              </a:p>
              <a:p>
                <a:pPr marL="0" indent="0" algn="just">
                  <a:lnSpc>
                    <a:spcPct val="150000"/>
                  </a:lnSpc>
                  <a:spcAft>
                    <a:spcPts val="600"/>
                  </a:spcAft>
                  <a:buNone/>
                </a:pPr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 </a:t>
                </a:r>
                <a:r>
                  <a:rPr lang="en-ZA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 the area allocated for potatoes per ha.</a:t>
                </a:r>
              </a:p>
              <a:p>
                <a:pPr marL="0" indent="0" algn="just">
                  <a:lnSpc>
                    <a:spcPct val="150000"/>
                  </a:lnSpc>
                  <a:spcAft>
                    <a:spcPts val="600"/>
                  </a:spcAft>
                  <a:buNone/>
                </a:pPr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ZA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ZA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 </a:t>
                </a:r>
                <a:r>
                  <a:rPr lang="en-ZA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 the area allocated for maize per ha.</a:t>
                </a:r>
              </a:p>
              <a:p>
                <a:endParaRPr lang="en-ZA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FFAA359-9CBA-3368-EB11-E8984B75C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75360"/>
                <a:ext cx="12192000" cy="5232133"/>
              </a:xfrm>
              <a:blipFill>
                <a:blip r:embed="rId4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140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F58C-FE47-0434-7473-1E63CA79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0" y="71121"/>
            <a:ext cx="10761344" cy="6908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of the problem continued</a:t>
            </a:r>
            <a:endParaRPr lang="en-US" sz="28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5E854-5B80-BD4B-287E-88FB92B5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 smtClean="0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C5DDC-2116-9A15-5098-533682B8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71611-46FB-3065-F65B-7390A745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C92BA-7920-59B4-2FA7-0654E03A1310}"/>
              </a:ext>
            </a:extLst>
          </p:cNvPr>
          <p:cNvSpPr txBox="1"/>
          <p:nvPr/>
        </p:nvSpPr>
        <p:spPr>
          <a:xfrm>
            <a:off x="1451579" y="201573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20000"/>
              </a:lnSpc>
              <a:spcAft>
                <a:spcPts val="800"/>
              </a:spcAft>
              <a:buClr>
                <a:schemeClr val="accent1"/>
              </a:buClr>
              <a:buSzPct val="100000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FFAA359-9CBA-3368-EB11-E8984B75C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75360"/>
                <a:ext cx="12192000" cy="5232133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ZA" sz="2900" b="1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Mathematical model</a:t>
                </a:r>
                <a:endParaRPr lang="en-ZA" sz="2900" b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ZA" sz="29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Max Z= </a:t>
                </a:r>
                <a14:m>
                  <m:oMath xmlns:m="http://schemas.openxmlformats.org/officeDocument/2006/math">
                    <m:r>
                      <a:rPr lang="en-ZA" sz="29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160 000</m:t>
                    </m:r>
                    <m:sSub>
                      <m:sSubPr>
                        <m:ctrlP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ZA" sz="29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+56 000</m:t>
                    </m:r>
                    <m:sSub>
                      <m:sSubPr>
                        <m:ctrlP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ZA" sz="29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+80 000</m:t>
                    </m:r>
                    <m:sSub>
                      <m:sSubPr>
                        <m:ctrlP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ZA" sz="29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+166 975,8813</m:t>
                    </m:r>
                    <m:sSub>
                      <m:sSubPr>
                        <m:ctrlP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ZA" sz="29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+400 000</m:t>
                    </m:r>
                    <m:sSub>
                      <m:sSubPr>
                        <m:ctrlP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ZA" sz="29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+1200 000</m:t>
                    </m:r>
                    <m:sSub>
                      <m:sSubPr>
                        <m:ctrlP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29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ZA" sz="29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ZA" sz="29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</a:t>
                </a:r>
                <a:endParaRPr lang="en-ZA" sz="29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ZA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	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≤</m:t>
                    </m:r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lang="en-ZA" sz="38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(land constraint)</a:t>
                </a: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ZA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		</a:t>
                </a:r>
                <a:r>
                  <a:rPr lang="en-ZA" sz="38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22.0867 5678</m:t>
                        </m:r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≤100</m:t>
                    </m:r>
                  </m:oMath>
                </a14:m>
                <a:r>
                  <a:rPr lang="en-ZA" sz="3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(labor constraint) </a:t>
                </a: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ZA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424</m:t>
                        </m:r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+424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+1770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+11728.06785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+885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+1770≤60 000</m:t>
                    </m:r>
                  </m:oMath>
                </a14:m>
                <a:r>
                  <a:rPr lang="en-ZA" sz="3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(fertilizer cost constraint)</a:t>
                </a: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ZA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597</m:t>
                        </m:r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+424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2985</m:t>
                        </m:r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+8790.529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+1492.5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+1492.5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≤50 000</m:t>
                    </m:r>
                  </m:oMath>
                </a14:m>
                <a:r>
                  <a:rPr lang="en-ZA" sz="3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(chemical cost constraint)</a:t>
                </a: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ZA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8000</m:t>
                        </m:r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+8000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10 000</m:t>
                        </m:r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+27829.31354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+5000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40 000</m:t>
                        </m:r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ZA" sz="3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ZA" sz="3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≤200 000</m:t>
                    </m:r>
                  </m:oMath>
                </a14:m>
                <a:r>
                  <a:rPr lang="en-ZA" sz="3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(seed cost constraint)</a:t>
                </a: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ZA" sz="3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ZA" sz="3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ZA" sz="3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≥3</m:t>
                      </m:r>
                    </m:oMath>
                  </m:oMathPara>
                </a14:m>
                <a:endParaRPr lang="en-ZA" sz="3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ZA" sz="3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ZA" sz="3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ZA" sz="3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≥3</m:t>
                      </m:r>
                    </m:oMath>
                  </m:oMathPara>
                </a14:m>
                <a:endParaRPr lang="en-ZA" sz="3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ZA" sz="3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ZA" sz="3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ZA" sz="3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≥1</m:t>
                      </m:r>
                    </m:oMath>
                  </m:oMathPara>
                </a14:m>
                <a:endParaRPr lang="en-ZA" sz="3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5</m:t>
                          </m:r>
                        </m:sub>
                      </m:sSub>
                      <m:r>
                        <a:rPr lang="en-ZA" sz="33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≥2</m:t>
                      </m:r>
                    </m:oMath>
                  </m:oMathPara>
                </a14:m>
                <a:endParaRPr lang="en-ZA" sz="33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ZA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0" indent="0" algn="l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ZA" sz="33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ZA" sz="33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ZA" sz="33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ZA" sz="33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r>
                        <a:rPr lang="en-ZA" sz="33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ZA" sz="33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6</m:t>
                          </m:r>
                        </m:sub>
                      </m:sSub>
                      <m:r>
                        <a:rPr lang="en-ZA" sz="33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n-ZA" sz="33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endParaRPr lang="en-ZA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FFAA359-9CBA-3368-EB11-E8984B75C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75360"/>
                <a:ext cx="12192000" cy="5232133"/>
              </a:xfrm>
              <a:blipFill>
                <a:blip r:embed="rId4"/>
                <a:stretch>
                  <a:fillRect l="-150" t="-221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56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126"/>
            <a:ext cx="10439400" cy="503578"/>
          </a:xfrm>
        </p:spPr>
        <p:txBody>
          <a:bodyPr>
            <a:noAutofit/>
          </a:bodyPr>
          <a:lstStyle/>
          <a:p>
            <a:r>
              <a:rPr lang="en-ZA" dirty="0">
                <a:latin typeface="Gill Sans MT" panose="020B0502020104020203" pitchFamily="34" charset="0"/>
              </a:rP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7398"/>
            <a:ext cx="10515600" cy="5339565"/>
          </a:xfrm>
        </p:spPr>
        <p:txBody>
          <a:bodyPr/>
          <a:lstStyle/>
          <a:p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Table 3 the method of crop planning suggested by the Linear Programming model is shown. The Linear Programming approach suggests that the farmer should grow 3 ha of cabbage, 3 ha of spinach, </a:t>
            </a:r>
            <a:r>
              <a:rPr lang="en-ZA" sz="16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4.76 </a:t>
            </a:r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butternut, 1 ha of tomatoes, 2ha of potatoes, and 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1.67 </a:t>
            </a:r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of maize. </a:t>
            </a:r>
            <a:endParaRPr lang="en-ZA" sz="160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879" y="751325"/>
            <a:ext cx="808522" cy="551226"/>
          </a:xfrm>
        </p:spPr>
        <p:txBody>
          <a:bodyPr/>
          <a:lstStyle/>
          <a:p>
            <a:fld id="{FCDC5D13-0321-4383-81EA-F2073319DF27}" type="slidenum">
              <a:rPr lang="en-ZA" smtClean="0"/>
              <a:pPr/>
              <a:t>10</a:t>
            </a:fld>
            <a:endParaRPr lang="en-Z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577843-146D-0DA2-AF10-139EEF052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45227"/>
              </p:ext>
            </p:extLst>
          </p:nvPr>
        </p:nvGraphicFramePr>
        <p:xfrm>
          <a:off x="0" y="1502979"/>
          <a:ext cx="12191999" cy="49368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3370">
                  <a:extLst>
                    <a:ext uri="{9D8B030D-6E8A-4147-A177-3AD203B41FA5}">
                      <a16:colId xmlns:a16="http://schemas.microsoft.com/office/drawing/2014/main" val="3765010541"/>
                    </a:ext>
                  </a:extLst>
                </a:gridCol>
                <a:gridCol w="1181937">
                  <a:extLst>
                    <a:ext uri="{9D8B030D-6E8A-4147-A177-3AD203B41FA5}">
                      <a16:colId xmlns:a16="http://schemas.microsoft.com/office/drawing/2014/main" val="339278695"/>
                    </a:ext>
                  </a:extLst>
                </a:gridCol>
                <a:gridCol w="1221116">
                  <a:extLst>
                    <a:ext uri="{9D8B030D-6E8A-4147-A177-3AD203B41FA5}">
                      <a16:colId xmlns:a16="http://schemas.microsoft.com/office/drawing/2014/main" val="1016081952"/>
                    </a:ext>
                  </a:extLst>
                </a:gridCol>
                <a:gridCol w="1584838">
                  <a:extLst>
                    <a:ext uri="{9D8B030D-6E8A-4147-A177-3AD203B41FA5}">
                      <a16:colId xmlns:a16="http://schemas.microsoft.com/office/drawing/2014/main" val="860474283"/>
                    </a:ext>
                  </a:extLst>
                </a:gridCol>
                <a:gridCol w="1414484">
                  <a:extLst>
                    <a:ext uri="{9D8B030D-6E8A-4147-A177-3AD203B41FA5}">
                      <a16:colId xmlns:a16="http://schemas.microsoft.com/office/drawing/2014/main" val="402335184"/>
                    </a:ext>
                  </a:extLst>
                </a:gridCol>
                <a:gridCol w="1376979">
                  <a:extLst>
                    <a:ext uri="{9D8B030D-6E8A-4147-A177-3AD203B41FA5}">
                      <a16:colId xmlns:a16="http://schemas.microsoft.com/office/drawing/2014/main" val="1020696354"/>
                    </a:ext>
                  </a:extLst>
                </a:gridCol>
                <a:gridCol w="2323579">
                  <a:extLst>
                    <a:ext uri="{9D8B030D-6E8A-4147-A177-3AD203B41FA5}">
                      <a16:colId xmlns:a16="http://schemas.microsoft.com/office/drawing/2014/main" val="970737371"/>
                    </a:ext>
                  </a:extLst>
                </a:gridCol>
                <a:gridCol w="1545696">
                  <a:extLst>
                    <a:ext uri="{9D8B030D-6E8A-4147-A177-3AD203B41FA5}">
                      <a16:colId xmlns:a16="http://schemas.microsoft.com/office/drawing/2014/main" val="3624042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 gridSpan="6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                                     Crops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 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050" marR="66050" marT="0" marB="0"/>
                </a:tc>
                <a:extLst>
                  <a:ext uri="{0D108BD9-81ED-4DB2-BD59-A6C34878D82A}">
                    <a16:rowId xmlns:a16="http://schemas.microsoft.com/office/drawing/2014/main" val="741976175"/>
                  </a:ext>
                </a:extLst>
              </a:tr>
              <a:tr h="42518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Resources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Cabbage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Spinach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Butternut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Tomatoes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Potatoes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Maize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Available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050" marR="66050" marT="0" marB="0"/>
                </a:tc>
                <a:extLst>
                  <a:ext uri="{0D108BD9-81ED-4DB2-BD59-A6C34878D82A}">
                    <a16:rowId xmlns:a16="http://schemas.microsoft.com/office/drawing/2014/main" val="805611266"/>
                  </a:ext>
                </a:extLst>
              </a:tr>
              <a:tr h="40906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Land(ha)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4.76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1.67 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39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extLst>
                  <a:ext uri="{0D108BD9-81ED-4DB2-BD59-A6C34878D82A}">
                    <a16:rowId xmlns:a16="http://schemas.microsoft.com/office/drawing/2014/main" val="353328067"/>
                  </a:ext>
                </a:extLst>
              </a:tr>
              <a:tr h="31494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Labor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extLst>
                  <a:ext uri="{0D108BD9-81ED-4DB2-BD59-A6C34878D82A}">
                    <a16:rowId xmlns:a16="http://schemas.microsoft.com/office/drawing/2014/main" val="619695493"/>
                  </a:ext>
                </a:extLst>
              </a:tr>
              <a:tr h="82839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Fertilizer cost (R)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1 272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1 272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8 423.56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11 728.07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1 710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2 946.16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60 000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extLst>
                  <a:ext uri="{0D108BD9-81ED-4DB2-BD59-A6C34878D82A}">
                    <a16:rowId xmlns:a16="http://schemas.microsoft.com/office/drawing/2014/main" val="117648109"/>
                  </a:ext>
                </a:extLst>
              </a:tr>
              <a:tr h="82839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Chemical cost (R)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1 791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1 791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14 205.84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8 790.53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2 985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2 484.26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50 000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extLst>
                  <a:ext uri="{0D108BD9-81ED-4DB2-BD59-A6C34878D82A}">
                    <a16:rowId xmlns:a16="http://schemas.microsoft.com/office/drawing/2014/main" val="600042523"/>
                  </a:ext>
                </a:extLst>
              </a:tr>
              <a:tr h="61873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Seed cost (R)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24 000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24 000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47 590.75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27 829.31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66 579.94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200 000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extLst>
                  <a:ext uri="{0D108BD9-81ED-4DB2-BD59-A6C34878D82A}">
                    <a16:rowId xmlns:a16="http://schemas.microsoft.com/office/drawing/2014/main" val="2993868310"/>
                  </a:ext>
                </a:extLst>
              </a:tr>
              <a:tr h="61873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Expenses 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27 063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27 063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70 220.15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52 765.26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14 755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72 010.36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extLst>
                  <a:ext uri="{0D108BD9-81ED-4DB2-BD59-A6C34878D82A}">
                    <a16:rowId xmlns:a16="http://schemas.microsoft.com/office/drawing/2014/main" val="3134849477"/>
                  </a:ext>
                </a:extLst>
              </a:tr>
              <a:tr h="61873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Income(R)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480 000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480 000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38 07260.11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166 975.88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800 000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1 997 398.05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50" marR="66050" marT="0" marB="0"/>
                </a:tc>
                <a:extLst>
                  <a:ext uri="{0D108BD9-81ED-4DB2-BD59-A6C34878D82A}">
                    <a16:rowId xmlns:a16="http://schemas.microsoft.com/office/drawing/2014/main" val="130720193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B6935722-B076-30EA-B1EA-A798D8C0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5338" y="891227"/>
            <a:ext cx="138556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Table 3: Farmer’s resource allocation plan using Linear programming.</a:t>
            </a:r>
            <a:endParaRPr kumimoji="0" lang="en-ZA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47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879" y="751325"/>
            <a:ext cx="808522" cy="551226"/>
          </a:xfrm>
        </p:spPr>
        <p:txBody>
          <a:bodyPr/>
          <a:lstStyle/>
          <a:p>
            <a:fld id="{FCDC5D13-0321-4383-81EA-F2073319DF27}" type="slidenum">
              <a:rPr lang="en-ZA" smtClean="0"/>
              <a:pPr/>
              <a:t>11</a:t>
            </a:fld>
            <a:endParaRPr lang="en-ZA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6935722-B076-30EA-B1EA-A798D8C0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9324" y="1240571"/>
            <a:ext cx="133616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ZA" altLang="en-US" dirty="0">
                <a:latin typeface="Gill Sans MT" panose="020B05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Table 4: Comparison of the income, expenses, and profit levels</a:t>
            </a:r>
            <a:endParaRPr kumimoji="0" lang="en-ZA" altLang="en-US" sz="18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4A02F6B-C037-F3BE-E590-883293F66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862637"/>
              </p:ext>
            </p:extLst>
          </p:nvPr>
        </p:nvGraphicFramePr>
        <p:xfrm>
          <a:off x="1177158" y="2270234"/>
          <a:ext cx="9974317" cy="31531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8178">
                  <a:extLst>
                    <a:ext uri="{9D8B030D-6E8A-4147-A177-3AD203B41FA5}">
                      <a16:colId xmlns:a16="http://schemas.microsoft.com/office/drawing/2014/main" val="228153892"/>
                    </a:ext>
                  </a:extLst>
                </a:gridCol>
                <a:gridCol w="3612070">
                  <a:extLst>
                    <a:ext uri="{9D8B030D-6E8A-4147-A177-3AD203B41FA5}">
                      <a16:colId xmlns:a16="http://schemas.microsoft.com/office/drawing/2014/main" val="2049819380"/>
                    </a:ext>
                  </a:extLst>
                </a:gridCol>
                <a:gridCol w="3564069">
                  <a:extLst>
                    <a:ext uri="{9D8B030D-6E8A-4147-A177-3AD203B41FA5}">
                      <a16:colId xmlns:a16="http://schemas.microsoft.com/office/drawing/2014/main" val="1626170776"/>
                    </a:ext>
                  </a:extLst>
                </a:gridCol>
              </a:tblGrid>
              <a:tr h="151886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 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ZA" sz="1800" kern="100" dirty="0">
                        <a:effectLst/>
                        <a:latin typeface="Gill Sans MT" panose="020B0502020104020203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Farmer’s plan 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ZA" sz="1800" kern="100" dirty="0">
                        <a:effectLst/>
                        <a:latin typeface="Gill Sans MT" panose="020B0502020104020203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Linear Programming solution (R)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extLst>
                  <a:ext uri="{0D108BD9-81ED-4DB2-BD59-A6C34878D82A}">
                    <a16:rowId xmlns:a16="http://schemas.microsoft.com/office/drawing/2014/main" val="2039650360"/>
                  </a:ext>
                </a:extLst>
              </a:tr>
              <a:tr h="54474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Income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5 117 800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7 419 634.04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extLst>
                  <a:ext uri="{0D108BD9-81ED-4DB2-BD59-A6C34878D82A}">
                    <a16:rowId xmlns:a16="http://schemas.microsoft.com/office/drawing/2014/main" val="3527585962"/>
                  </a:ext>
                </a:extLst>
              </a:tr>
              <a:tr h="54474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Expenses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  218 190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2 63 876.78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extLst>
                  <a:ext uri="{0D108BD9-81ED-4DB2-BD59-A6C34878D82A}">
                    <a16:rowId xmlns:a16="http://schemas.microsoft.com/office/drawing/2014/main" val="1511766150"/>
                  </a:ext>
                </a:extLst>
              </a:tr>
              <a:tr h="54474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>
                          <a:effectLst/>
                          <a:latin typeface="Gill Sans MT" panose="020B0502020104020203" pitchFamily="34" charset="0"/>
                        </a:rPr>
                        <a:t>Profit </a:t>
                      </a:r>
                      <a:endParaRPr lang="en-ZA" sz="1800" kern="10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4 899 610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ZA" sz="1800" kern="100" dirty="0">
                          <a:effectLst/>
                          <a:latin typeface="Gill Sans MT" panose="020B0502020104020203" pitchFamily="34" charset="0"/>
                        </a:rPr>
                        <a:t>7 155 757.27</a:t>
                      </a:r>
                      <a:endParaRPr lang="en-ZA" sz="1800" kern="100" dirty="0">
                        <a:effectLst/>
                        <a:latin typeface="Gill Sans MT" panose="020B050202010402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4806" marR="104806" marT="0" marB="0"/>
                </a:tc>
                <a:extLst>
                  <a:ext uri="{0D108BD9-81ED-4DB2-BD59-A6C34878D82A}">
                    <a16:rowId xmlns:a16="http://schemas.microsoft.com/office/drawing/2014/main" val="2876323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07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  <a:p>
            <a:r>
              <a:rPr lang="en-ZA" dirty="0"/>
              <a:t>Department of Mathematics &amp; Physics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879" y="751325"/>
            <a:ext cx="808522" cy="551226"/>
          </a:xfrm>
        </p:spPr>
        <p:txBody>
          <a:bodyPr/>
          <a:lstStyle/>
          <a:p>
            <a:fld id="{FCDC5D13-0321-4383-81EA-F2073319DF27}" type="slidenum">
              <a:rPr lang="en-ZA" smtClean="0"/>
              <a:pPr/>
              <a:t>12</a:t>
            </a:fld>
            <a:endParaRPr lang="en-ZA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6935722-B076-30EA-B1EA-A798D8C0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2279" y="310143"/>
            <a:ext cx="136586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ZA" altLang="en-US" sz="18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</a:endParaRPr>
          </a:p>
        </p:txBody>
      </p:sp>
      <p:graphicFrame>
        <p:nvGraphicFramePr>
          <p:cNvPr id="7" name="Content Placeholder 9">
            <a:extLst>
              <a:ext uri="{FF2B5EF4-FFF2-40B4-BE49-F238E27FC236}">
                <a16:creationId xmlns:a16="http://schemas.microsoft.com/office/drawing/2014/main" id="{7C922B88-21D9-1079-9823-F07330C93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325191"/>
              </p:ext>
            </p:extLst>
          </p:nvPr>
        </p:nvGraphicFramePr>
        <p:xfrm>
          <a:off x="588579" y="84083"/>
          <a:ext cx="10888718" cy="5799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92740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561" y="-619760"/>
            <a:ext cx="10324464" cy="3058159"/>
          </a:xfrm>
        </p:spPr>
        <p:txBody>
          <a:bodyPr/>
          <a:lstStyle/>
          <a:p>
            <a:r>
              <a:rPr lang="en-ZA" dirty="0">
                <a:latin typeface="Gill Sans MT" panose="020B0502020104020203" pitchFamily="34" charset="0"/>
              </a:rP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11503023" cy="4328161"/>
          </a:xfrm>
        </p:spPr>
        <p:txBody>
          <a:bodyPr>
            <a:norm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A Linear Programming model was developed.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 The crops considered were cabbage, spinach, butternut, tomato, potato, and maize. </a:t>
            </a:r>
          </a:p>
          <a:p>
            <a:pPr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The model produced the best crop combination.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Gill Sans MT" panose="020B0502020104020203" pitchFamily="34" charset="0"/>
                <a:ea typeface="Calibri" panose="020F0502020204030204" pitchFamily="34" charset="0"/>
              </a:rPr>
              <a:t>By using Linear Programming, the farmer’s profit increased by </a:t>
            </a:r>
            <a:r>
              <a:rPr lang="en-US" sz="1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 46% increase in profit.</a:t>
            </a: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endParaRPr lang="en-ZA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21 August 2026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15032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7083" y="0"/>
            <a:ext cx="11134917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025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6013" y="1072609"/>
            <a:ext cx="3041557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ZA" sz="3200">
                <a:solidFill>
                  <a:schemeClr val="tx2"/>
                </a:solidFill>
                <a:latin typeface="Gill Sans MT" panose="020B0502020104020203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9032" y="1072609"/>
            <a:ext cx="6383207" cy="45226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Bhatia, M. &amp; Bhat, G.M.J. 2019. Linear Programming Approach- Application in Agriculture. </a:t>
            </a:r>
            <a:r>
              <a:rPr lang="en-US" sz="1400" i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JETIR</a:t>
            </a: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,6(6):155-157.</a:t>
            </a:r>
            <a:endParaRPr lang="en-ZA" sz="1400"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Bojang, P.O., Yu, P.S., Yang, T.C.&amp; Kuo, C.M.2016. Optimal Cropping Patterns for Profit Maximization Using a Linear Programming Model: A Case Study in Njawara Village, The Gambia. </a:t>
            </a:r>
            <a:r>
              <a:rPr lang="en-US" sz="1400" i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Hydro-Science &amp; Engineering for Environmental Resilience</a:t>
            </a: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10–13.</a:t>
            </a:r>
            <a:endParaRPr lang="en-ZA" sz="140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Bhatia, M.&amp; Rana, A. 2020. A Mathematical Approach to Optimize Crop Allocation – A Linear Programming Model. </a:t>
            </a:r>
            <a:r>
              <a:rPr lang="en-US" sz="1400" i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International Journal of Design &amp; Nature and Ecodynamics</a:t>
            </a: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. 15(2):245-252. </a:t>
            </a:r>
            <a:r>
              <a:rPr lang="en-US" sz="1400" u="none" strike="noStrike">
                <a:effectLst/>
                <a:latin typeface="Gill Sans MT" panose="020B0502020104020203" pitchFamily="34" charset="0"/>
                <a:ea typeface="Calibri" panose="020F0502020204030204" pitchFamily="34" charset="0"/>
                <a:hlinkClick r:id="rId3"/>
              </a:rPr>
              <a:t>https://doi.org/10.18280/ijdne.150215</a:t>
            </a:r>
            <a:endParaRPr lang="en-ZA" sz="140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Buzuzi, G. &amp; Buzuzi, A.N. 2018. A Mathematical Programming Technique to Crop Mix Problem on a Farm in Mutasa, Manicaland Province, Zimbabwe. </a:t>
            </a:r>
            <a:r>
              <a:rPr lang="en-US" sz="1400" i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SSRG International Journal of Economics and Management Studies (IJEMS)</a:t>
            </a: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. 5(11): 6-10.</a:t>
            </a:r>
            <a:endParaRPr lang="en-ZA" sz="140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Hemanatha, Jayasuriya, P.W., &amp; Das, R. 2016. Agricultural resources management through a linear programming approach: A case study on productivity optimization of crop-livestock farming integration</a:t>
            </a:r>
            <a:r>
              <a:rPr lang="en-US" sz="1400" b="1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400" i="1">
                <a:effectLst/>
                <a:highlight>
                  <a:srgbClr val="FFFFFF"/>
                </a:highlight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 of Agricultural and Marine Sciences.</a:t>
            </a:r>
            <a:r>
              <a:rPr lang="en-US" sz="1400">
                <a:effectLst/>
                <a:highlight>
                  <a:srgbClr val="FFFFFF"/>
                </a:highlight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22(1): 27-35</a:t>
            </a:r>
            <a:r>
              <a:rPr lang="en-US" sz="1400">
                <a:effectLst/>
                <a:highlight>
                  <a:srgbClr val="FFFFFF"/>
                </a:highlight>
                <a:latin typeface="Gill Sans MT" panose="020B0502020104020203" pitchFamily="34" charset="0"/>
                <a:ea typeface="Calibri" panose="020F0502020204030204" pitchFamily="34" charset="0"/>
              </a:rPr>
              <a:t>.</a:t>
            </a:r>
            <a:endParaRPr lang="en-ZA" sz="140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Landau, P. 2023. What Is Resource Allocation? How to Allocate Resources for Projects.</a:t>
            </a:r>
            <a:r>
              <a:rPr lang="en-US" sz="1400" u="none" strike="noStrike">
                <a:effectLst/>
                <a:latin typeface="Gill Sans MT" panose="020B0502020104020203" pitchFamily="34" charset="0"/>
                <a:ea typeface="Calibri" panose="020F0502020204030204" pitchFamily="34" charset="0"/>
                <a:hlinkClick r:id="rId4"/>
              </a:rPr>
              <a:t>https://www.projectmanager.com/blog/resource-allocation</a:t>
            </a:r>
            <a:r>
              <a:rPr lang="en-US" sz="140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[24 February 2024]. </a:t>
            </a:r>
            <a:endParaRPr lang="en-ZA" sz="140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ZA" sz="14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18350" y="5883275"/>
            <a:ext cx="440889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7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700"/>
              <a:t>Department of Mathematics &amp; Physics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81072" y="5867131"/>
            <a:ext cx="55116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spcAft>
                  <a:spcPts val="600"/>
                </a:spcAft>
              </a:pPr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14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7083" y="0"/>
            <a:ext cx="11134917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025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10D97-B67A-EB24-CF99-C20AAFE9E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32" y="1072609"/>
            <a:ext cx="6383207" cy="45226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  <a:tabLst>
                <a:tab pos="1146175" algn="l"/>
              </a:tabLst>
            </a:pP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Mellaku, M.T., Reynolds, T.W. &amp; Woldeamanuel, T. 2018. Linear Programming-Based Cropland Allocation to Enhance Performance of Smallholder Crop Production: A Pilot Study in Abaro Kebele, Ethiopia. </a:t>
            </a:r>
            <a:r>
              <a:rPr lang="en-US" sz="1600" i="1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Resources. 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7(4):1-15. </a:t>
            </a: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  <a:tabLst>
                <a:tab pos="1146175" algn="l"/>
              </a:tabLst>
            </a:pP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Miao, B.-L., Liu, Y., Fan, Y.-B., Niu, X.-J., Jiang, X.-Y. &amp; Tang, Z.2023. Optimization of Agricultural Resource Allocation among Crops: A Portfolio Model Analysis</a:t>
            </a:r>
            <a:r>
              <a:rPr lang="en-US" sz="1600" i="1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.Land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.12(1901):1-18. </a:t>
            </a:r>
            <a:r>
              <a:rPr lang="en-US" sz="1600" u="none" strike="noStrike" dirty="0">
                <a:effectLst/>
                <a:latin typeface="Gill Sans MT" panose="020B0502020104020203" pitchFamily="34" charset="0"/>
                <a:ea typeface="Calibri" panose="020F0502020204030204" pitchFamily="34" charset="0"/>
                <a:hlinkClick r:id="rId3"/>
              </a:rPr>
              <a:t>https://doi.org/10.3390/land1210190</a:t>
            </a: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  <a:tabLst>
                <a:tab pos="1146175" algn="l"/>
              </a:tabLst>
            </a:pP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Mohamad, N.H. &amp; Said, F. 2011. A mathematical programming approach to crop mix problem. </a:t>
            </a:r>
            <a:r>
              <a:rPr lang="en-US" sz="1600" i="1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African Journal of Agricultural Research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. 6(1): 191-197.</a:t>
            </a: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  <a:tabLst>
                <a:tab pos="1146175" algn="l"/>
              </a:tabLst>
            </a:pP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Muzhinji, K. &amp; Ndou, N. 2022. A cash crop combination for maximum net income: A case study of a small-scale cash crop farmer in Vhembe, Limpopo province, South Africa. </a:t>
            </a:r>
            <a:r>
              <a:rPr lang="en-US" sz="1600" i="1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African Journal of Food, Agriculture, Nutrition and Development. 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22(7): 21056-21071. https://doi.org/10.18697/ajfand.112.21640</a:t>
            </a: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  <a:tabLst>
                <a:tab pos="1146175" algn="l"/>
              </a:tabLst>
            </a:pP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Sofi, N.A., Ahmed, A., Ahmad, M. &amp; Bhat, B.A. 2015. Decision Making in Agriculture: A Linear Programming Approach. </a:t>
            </a:r>
            <a:r>
              <a:rPr lang="en-US" sz="1600" i="1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International Journal of Modern Mathematical Sciences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. 13(2):160-169. </a:t>
            </a: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ZA" sz="16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38FFB-5B08-2CCE-3EDD-0B9E90D5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8350" y="5883275"/>
            <a:ext cx="440889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7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700"/>
              <a:t>Department of Mathematics &amp; Physics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CAC64-3D59-C75B-FF78-C728BFD5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/>
              <a:pPr>
                <a:spcAft>
                  <a:spcPts val="600"/>
                </a:spcAft>
              </a:pPr>
              <a:t>21 August 2026</a:t>
            </a:fld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7023B-3FAE-2977-4E07-7E24D716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72" y="5867131"/>
            <a:ext cx="55116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spcAft>
                  <a:spcPts val="600"/>
                </a:spcAft>
              </a:pPr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1443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f9c8ac-b8b4-4c0e-93f8-2c1007ea5ff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3033505C532A418140209914D718E2" ma:contentTypeVersion="15" ma:contentTypeDescription="Create a new document." ma:contentTypeScope="" ma:versionID="087b648b5a0ccb45c0d1b2b7044113dc">
  <xsd:schema xmlns:xsd="http://www.w3.org/2001/XMLSchema" xmlns:xs="http://www.w3.org/2001/XMLSchema" xmlns:p="http://schemas.microsoft.com/office/2006/metadata/properties" xmlns:ns3="caf9c8ac-b8b4-4c0e-93f8-2c1007ea5ffc" xmlns:ns4="893186d4-3036-4c3a-994a-f88cf3e9a444" targetNamespace="http://schemas.microsoft.com/office/2006/metadata/properties" ma:root="true" ma:fieldsID="543b2a6870baed8ef16280d521a0486e" ns3:_="" ns4:_="">
    <xsd:import namespace="caf9c8ac-b8b4-4c0e-93f8-2c1007ea5ffc"/>
    <xsd:import namespace="893186d4-3036-4c3a-994a-f88cf3e9a4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f9c8ac-b8b4-4c0e-93f8-2c1007ea5f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3186d4-3036-4c3a-994a-f88cf3e9a44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48519E-9784-4717-9ED6-7F2EBEB3AED6}">
  <ds:schemaRefs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893186d4-3036-4c3a-994a-f88cf3e9a444"/>
    <ds:schemaRef ds:uri="caf9c8ac-b8b4-4c0e-93f8-2c1007ea5ffc"/>
  </ds:schemaRefs>
</ds:datastoreItem>
</file>

<file path=customXml/itemProps2.xml><?xml version="1.0" encoding="utf-8"?>
<ds:datastoreItem xmlns:ds="http://schemas.openxmlformats.org/officeDocument/2006/customXml" ds:itemID="{5F99FBAF-9D97-4C92-9287-7F1677C7D3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f9c8ac-b8b4-4c0e-93f8-2c1007ea5ffc"/>
    <ds:schemaRef ds:uri="893186d4-3036-4c3a-994a-f88cf3e9a4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73C4CE-0CCE-4344-8427-48EC465A91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2036</TotalTime>
  <Words>1798</Words>
  <Application>Microsoft Office PowerPoint</Application>
  <PresentationFormat>Widescreen</PresentationFormat>
  <Paragraphs>351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 Math</vt:lpstr>
      <vt:lpstr>Corbel</vt:lpstr>
      <vt:lpstr>Gill Sans MT</vt:lpstr>
      <vt:lpstr>Times New Roman</vt:lpstr>
      <vt:lpstr>Parallax</vt:lpstr>
      <vt:lpstr> FARM RESOURCE ALLOCATION PROBLEM: A CASE STUDY OF A FARM IN QUEENSTOWN, EASTERN CAPE SOUTH AFRICA</vt:lpstr>
      <vt:lpstr>INTRODUCTION</vt:lpstr>
      <vt:lpstr> PROBLEM STATEMENT </vt:lpstr>
      <vt:lpstr>OBJECTIVES</vt:lpstr>
      <vt:lpstr>METHODOLOGY   Table 1: Farmer’s resource allocation plan before Linear Programming  </vt:lpstr>
      <vt:lpstr> Table 2: Farmer’s resource allocation plan per hectare before Linear Programming</vt:lpstr>
      <vt:lpstr>Formulation of the problem</vt:lpstr>
      <vt:lpstr>Formulation of the problem continued</vt:lpstr>
      <vt:lpstr>Formulation of the problem continued</vt:lpstr>
      <vt:lpstr>Results &amp; Discussion</vt:lpstr>
      <vt:lpstr>PowerPoint Presentation</vt:lpstr>
      <vt:lpstr>PowerPoint Presentation</vt:lpstr>
      <vt:lpstr>Conclusion &amp; Recommendations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Nqabakazi Didoo Dyantyi</dc:creator>
  <cp:lastModifiedBy>Nqabakazi Dyantyi</cp:lastModifiedBy>
  <cp:revision>5</cp:revision>
  <dcterms:created xsi:type="dcterms:W3CDTF">2024-06-03T09:21:45Z</dcterms:created>
  <dcterms:modified xsi:type="dcterms:W3CDTF">2026-08-21T06:45:59Z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0x010100793033505C532A418140209914D718E2</vt:lpwstr>
  </property>
</Properties>
</file>