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</p:sldMasterIdLst>
  <p:notesMasterIdLst>
    <p:notesMasterId r:id="rId21"/>
  </p:notesMasterIdLst>
  <p:sldIdLst>
    <p:sldId id="256" r:id="rId5"/>
    <p:sldId id="257" r:id="rId6"/>
    <p:sldId id="275" r:id="rId7"/>
    <p:sldId id="282" r:id="rId8"/>
    <p:sldId id="284" r:id="rId9"/>
    <p:sldId id="260" r:id="rId10"/>
    <p:sldId id="292" r:id="rId11"/>
    <p:sldId id="293" r:id="rId12"/>
    <p:sldId id="294" r:id="rId13"/>
    <p:sldId id="295" r:id="rId14"/>
    <p:sldId id="262" r:id="rId15"/>
    <p:sldId id="263" r:id="rId16"/>
    <p:sldId id="291" r:id="rId17"/>
    <p:sldId id="288" r:id="rId18"/>
    <p:sldId id="289" r:id="rId19"/>
    <p:sldId id="2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outlineViewPr>
    <p:cViewPr>
      <p:scale>
        <a:sx n="33" d="100"/>
        <a:sy n="33" d="100"/>
      </p:scale>
      <p:origin x="0" y="-83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2A19C8-F3FF-49BE-B324-DCEF617573F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5B227D-2E31-4607-964B-B80ADC1CF649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800" b="1" dirty="0">
              <a:latin typeface="Gill Sans MT" panose="020B0502020104020203" pitchFamily="34" charset="0"/>
            </a:rPr>
            <a:t>To evaluate the effect of different temperatures 4°C and 20 °C on pinking susceptibility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664D93C5-4EEE-4C78-ABAE-69B362D65DC7}" type="parTrans" cxnId="{E4D81F4C-F699-4343-83BC-A136E93D75D3}">
      <dgm:prSet/>
      <dgm:spPr/>
      <dgm:t>
        <a:bodyPr/>
        <a:lstStyle/>
        <a:p>
          <a:endParaRPr lang="en-US"/>
        </a:p>
      </dgm:t>
    </dgm:pt>
    <dgm:pt modelId="{5484FBBC-7EFE-412A-9F52-D9942E48ACCE}" type="sibTrans" cxnId="{E4D81F4C-F699-4343-83BC-A136E93D75D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12F43E74-2C7D-456A-8780-E37E7C8E1480}">
      <dgm:prSet custT="1"/>
      <dgm:spPr/>
      <dgm:t>
        <a:bodyPr/>
        <a:lstStyle/>
        <a:p>
          <a:r>
            <a:rPr lang="en-GB" sz="1800" b="1" i="0" dirty="0">
              <a:latin typeface="Gill Sans MT" panose="020B0502020104020203" pitchFamily="34" charset="0"/>
            </a:rPr>
            <a:t>To assess the effect of different ripening stages on the pinking susceptibility.</a:t>
          </a:r>
          <a:endParaRPr lang="en-US" sz="1800" dirty="0">
            <a:latin typeface="Gill Sans MT" panose="020B0502020104020203" pitchFamily="34" charset="0"/>
          </a:endParaRPr>
        </a:p>
      </dgm:t>
    </dgm:pt>
    <dgm:pt modelId="{9C3BD87E-15A9-44A6-800F-ECB1BE63B7F8}" type="parTrans" cxnId="{E66E80E1-1988-4142-99AC-9B56942CE8B0}">
      <dgm:prSet/>
      <dgm:spPr/>
      <dgm:t>
        <a:bodyPr/>
        <a:lstStyle/>
        <a:p>
          <a:endParaRPr lang="en-US"/>
        </a:p>
      </dgm:t>
    </dgm:pt>
    <dgm:pt modelId="{E7C3AAC4-E911-4462-9FFF-B6627384CECF}" type="sibTrans" cxnId="{E66E80E1-1988-4142-99AC-9B56942CE8B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EB15154-3D5B-4E52-96DA-2BFA61CD677A}">
      <dgm:prSet custT="1"/>
      <dgm:spPr/>
      <dgm:t>
        <a:bodyPr/>
        <a:lstStyle/>
        <a:p>
          <a:r>
            <a:rPr lang="en-GB" sz="1600" b="1" i="0" dirty="0">
              <a:latin typeface="Gill Sans MT" panose="020B0502020104020203" pitchFamily="34" charset="0"/>
            </a:rPr>
            <a:t>To identify wavenumbers associated with prominent peaks that indicate potential pinking susceptibility in wine samples. </a:t>
          </a:r>
          <a:endParaRPr lang="en-US" sz="1600" dirty="0">
            <a:latin typeface="Gill Sans MT" panose="020B0502020104020203" pitchFamily="34" charset="0"/>
          </a:endParaRPr>
        </a:p>
      </dgm:t>
    </dgm:pt>
    <dgm:pt modelId="{6AB4B35D-8B3D-480F-ADAE-A02AE04749FA}" type="parTrans" cxnId="{46AEC4DB-23FF-4BDF-9074-15DDA6CA101A}">
      <dgm:prSet/>
      <dgm:spPr/>
      <dgm:t>
        <a:bodyPr/>
        <a:lstStyle/>
        <a:p>
          <a:endParaRPr lang="en-US"/>
        </a:p>
      </dgm:t>
    </dgm:pt>
    <dgm:pt modelId="{C90783AA-83E9-4B34-8A0C-A86E29D294C6}" type="sibTrans" cxnId="{46AEC4DB-23FF-4BDF-9074-15DDA6CA101A}">
      <dgm:prSet phldrT="4" phldr="0"/>
      <dgm:spPr/>
      <dgm:t>
        <a:bodyPr/>
        <a:lstStyle/>
        <a:p>
          <a:r>
            <a:rPr lang="en-US"/>
            <a:t>4</a:t>
          </a:r>
          <a:endParaRPr lang="en-US" dirty="0"/>
        </a:p>
      </dgm:t>
    </dgm:pt>
    <dgm:pt modelId="{85F9F8C9-3214-43D0-A61D-9CDAEF444FEE}">
      <dgm:prSet custT="1"/>
      <dgm:spPr/>
      <dgm:t>
        <a:bodyPr/>
        <a:lstStyle/>
        <a:p>
          <a:r>
            <a:rPr lang="en-GB" sz="1800" b="1" i="0" dirty="0">
              <a:latin typeface="Gill Sans MT" panose="020B0502020104020203" pitchFamily="34" charset="0"/>
            </a:rPr>
            <a:t>To assess the influence of different bag press methods : (BW vs BC) on pinking susceptibility</a:t>
          </a:r>
          <a:endParaRPr lang="en-US" sz="1800" b="1" dirty="0">
            <a:latin typeface="Gill Sans MT" panose="020B0502020104020203" pitchFamily="34" charset="0"/>
          </a:endParaRPr>
        </a:p>
      </dgm:t>
    </dgm:pt>
    <dgm:pt modelId="{C57216AC-6234-4B95-9A25-8F20AFCBDDAE}" type="sibTrans" cxnId="{B917052F-B8EC-4FE9-A067-35887BF87D2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6CEDEEC-8FF4-4302-B827-5464882E3217}" type="parTrans" cxnId="{B917052F-B8EC-4FE9-A067-35887BF87D27}">
      <dgm:prSet/>
      <dgm:spPr/>
      <dgm:t>
        <a:bodyPr/>
        <a:lstStyle/>
        <a:p>
          <a:endParaRPr lang="en-US"/>
        </a:p>
      </dgm:t>
    </dgm:pt>
    <dgm:pt modelId="{C4468A6E-1748-41A6-8684-4B5F15F896FA}" type="pres">
      <dgm:prSet presAssocID="{FE2A19C8-F3FF-49BE-B324-DCEF617573F2}" presName="linearFlow" presStyleCnt="0">
        <dgm:presLayoutVars>
          <dgm:dir/>
          <dgm:animLvl val="lvl"/>
          <dgm:resizeHandles val="exact"/>
        </dgm:presLayoutVars>
      </dgm:prSet>
      <dgm:spPr/>
    </dgm:pt>
    <dgm:pt modelId="{9ED60B28-709D-4E34-906D-BA29F78B6331}" type="pres">
      <dgm:prSet presAssocID="{4B5B227D-2E31-4607-964B-B80ADC1CF649}" presName="compositeNode" presStyleCnt="0"/>
      <dgm:spPr/>
    </dgm:pt>
    <dgm:pt modelId="{0474E3D7-B6A3-4FCD-9AE9-ED550C3E8E03}" type="pres">
      <dgm:prSet presAssocID="{4B5B227D-2E31-4607-964B-B80ADC1CF64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0F8348B-3FAC-4A7B-B75A-79254D65E50F}" type="pres">
      <dgm:prSet presAssocID="{4B5B227D-2E31-4607-964B-B80ADC1CF649}" presName="parSh" presStyleCnt="0"/>
      <dgm:spPr/>
    </dgm:pt>
    <dgm:pt modelId="{60B254E4-6EA8-4328-AB7A-9B0B6E2B46E1}" type="pres">
      <dgm:prSet presAssocID="{4B5B227D-2E31-4607-964B-B80ADC1CF649}" presName="lineNode" presStyleLbl="alignAccFollowNode1" presStyleIdx="0" presStyleCnt="12"/>
      <dgm:spPr/>
    </dgm:pt>
    <dgm:pt modelId="{D164DF94-1404-45BF-A758-D39E822B9ADE}" type="pres">
      <dgm:prSet presAssocID="{4B5B227D-2E31-4607-964B-B80ADC1CF649}" presName="lineArrowNode" presStyleLbl="alignAccFollowNode1" presStyleIdx="1" presStyleCnt="12"/>
      <dgm:spPr/>
    </dgm:pt>
    <dgm:pt modelId="{189796E4-8E15-4C16-B0F0-CDCBE3CA8462}" type="pres">
      <dgm:prSet presAssocID="{5484FBBC-7EFE-412A-9F52-D9942E48ACCE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045EC92E-32FA-4A5C-99DE-6114F144D452}" type="pres">
      <dgm:prSet presAssocID="{5484FBBC-7EFE-412A-9F52-D9942E48ACCE}" presName="spacerBetweenCircleAndCallout" presStyleCnt="0">
        <dgm:presLayoutVars/>
      </dgm:prSet>
      <dgm:spPr/>
    </dgm:pt>
    <dgm:pt modelId="{5328AB2D-15A9-430B-8D17-339CB4CEB4EF}" type="pres">
      <dgm:prSet presAssocID="{4B5B227D-2E31-4607-964B-B80ADC1CF649}" presName="nodeText" presStyleLbl="alignAccFollowNode1" presStyleIdx="2" presStyleCnt="12">
        <dgm:presLayoutVars>
          <dgm:bulletEnabled val="1"/>
        </dgm:presLayoutVars>
      </dgm:prSet>
      <dgm:spPr/>
    </dgm:pt>
    <dgm:pt modelId="{69E9C11A-60B6-417B-AECD-E214C6328487}" type="pres">
      <dgm:prSet presAssocID="{5484FBBC-7EFE-412A-9F52-D9942E48ACCE}" presName="sibTransComposite" presStyleCnt="0"/>
      <dgm:spPr/>
    </dgm:pt>
    <dgm:pt modelId="{8422ACDE-4B22-4E72-92E5-61B2B8E44E1A}" type="pres">
      <dgm:prSet presAssocID="{85F9F8C9-3214-43D0-A61D-9CDAEF444FEE}" presName="compositeNode" presStyleCnt="0"/>
      <dgm:spPr/>
    </dgm:pt>
    <dgm:pt modelId="{E85DDF53-B147-4C0F-8BA8-D69DD1E91A1B}" type="pres">
      <dgm:prSet presAssocID="{85F9F8C9-3214-43D0-A61D-9CDAEF444FE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C29EA64-F1BC-492D-811B-95F0B23AD9AD}" type="pres">
      <dgm:prSet presAssocID="{85F9F8C9-3214-43D0-A61D-9CDAEF444FEE}" presName="parSh" presStyleCnt="0"/>
      <dgm:spPr/>
    </dgm:pt>
    <dgm:pt modelId="{46C2DC67-9485-4D17-A193-83F7994A836E}" type="pres">
      <dgm:prSet presAssocID="{85F9F8C9-3214-43D0-A61D-9CDAEF444FEE}" presName="lineNode" presStyleLbl="alignAccFollowNode1" presStyleIdx="3" presStyleCnt="12"/>
      <dgm:spPr/>
    </dgm:pt>
    <dgm:pt modelId="{B08668D8-4F6D-4665-9BD0-BA28B2E34123}" type="pres">
      <dgm:prSet presAssocID="{85F9F8C9-3214-43D0-A61D-9CDAEF444FEE}" presName="lineArrowNode" presStyleLbl="alignAccFollowNode1" presStyleIdx="4" presStyleCnt="12"/>
      <dgm:spPr/>
    </dgm:pt>
    <dgm:pt modelId="{D3F14C93-D4C8-4BBD-9C81-802FB3432A44}" type="pres">
      <dgm:prSet presAssocID="{C57216AC-6234-4B95-9A25-8F20AFCBDDAE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59674A29-B5AE-4D03-9A0B-DB24ECBBC337}" type="pres">
      <dgm:prSet presAssocID="{C57216AC-6234-4B95-9A25-8F20AFCBDDAE}" presName="spacerBetweenCircleAndCallout" presStyleCnt="0">
        <dgm:presLayoutVars/>
      </dgm:prSet>
      <dgm:spPr/>
    </dgm:pt>
    <dgm:pt modelId="{BC77B403-FFDC-457E-B469-3CD611EB478C}" type="pres">
      <dgm:prSet presAssocID="{85F9F8C9-3214-43D0-A61D-9CDAEF444FEE}" presName="nodeText" presStyleLbl="alignAccFollowNode1" presStyleIdx="5" presStyleCnt="12">
        <dgm:presLayoutVars>
          <dgm:bulletEnabled val="1"/>
        </dgm:presLayoutVars>
      </dgm:prSet>
      <dgm:spPr/>
    </dgm:pt>
    <dgm:pt modelId="{B808ABCC-A9D3-43B9-BB4C-E0BF55A0BDEE}" type="pres">
      <dgm:prSet presAssocID="{C57216AC-6234-4B95-9A25-8F20AFCBDDAE}" presName="sibTransComposite" presStyleCnt="0"/>
      <dgm:spPr/>
    </dgm:pt>
    <dgm:pt modelId="{AB680357-C649-4AAC-9FCF-4CE42219FA20}" type="pres">
      <dgm:prSet presAssocID="{12F43E74-2C7D-456A-8780-E37E7C8E1480}" presName="compositeNode" presStyleCnt="0"/>
      <dgm:spPr/>
    </dgm:pt>
    <dgm:pt modelId="{B07213B5-AA3F-46FE-ABF0-163C1654780D}" type="pres">
      <dgm:prSet presAssocID="{12F43E74-2C7D-456A-8780-E37E7C8E148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3656EED-E58D-41CF-BA66-770CC61EA2C3}" type="pres">
      <dgm:prSet presAssocID="{12F43E74-2C7D-456A-8780-E37E7C8E1480}" presName="parSh" presStyleCnt="0"/>
      <dgm:spPr/>
    </dgm:pt>
    <dgm:pt modelId="{9B703E64-102C-4B62-BA60-538B8588E56E}" type="pres">
      <dgm:prSet presAssocID="{12F43E74-2C7D-456A-8780-E37E7C8E1480}" presName="lineNode" presStyleLbl="alignAccFollowNode1" presStyleIdx="6" presStyleCnt="12"/>
      <dgm:spPr/>
    </dgm:pt>
    <dgm:pt modelId="{019D60EB-FC98-4D6D-9D50-B8B33BD88BE6}" type="pres">
      <dgm:prSet presAssocID="{12F43E74-2C7D-456A-8780-E37E7C8E1480}" presName="lineArrowNode" presStyleLbl="alignAccFollowNode1" presStyleIdx="7" presStyleCnt="12"/>
      <dgm:spPr/>
    </dgm:pt>
    <dgm:pt modelId="{6FB6588B-ED48-44A5-9AEB-E1F3CDCD91F8}" type="pres">
      <dgm:prSet presAssocID="{E7C3AAC4-E911-4462-9FFF-B6627384CECF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6D272620-6FAF-411F-ADB9-463361F9D4C0}" type="pres">
      <dgm:prSet presAssocID="{E7C3AAC4-E911-4462-9FFF-B6627384CECF}" presName="spacerBetweenCircleAndCallout" presStyleCnt="0">
        <dgm:presLayoutVars/>
      </dgm:prSet>
      <dgm:spPr/>
    </dgm:pt>
    <dgm:pt modelId="{D6307470-694C-473E-9C3E-88B6CBE5666A}" type="pres">
      <dgm:prSet presAssocID="{12F43E74-2C7D-456A-8780-E37E7C8E1480}" presName="nodeText" presStyleLbl="alignAccFollowNode1" presStyleIdx="8" presStyleCnt="12" custScaleX="93930" custScaleY="100000">
        <dgm:presLayoutVars>
          <dgm:bulletEnabled val="1"/>
        </dgm:presLayoutVars>
      </dgm:prSet>
      <dgm:spPr/>
    </dgm:pt>
    <dgm:pt modelId="{D49CE1A7-2D93-4C95-A392-0BBB760CA632}" type="pres">
      <dgm:prSet presAssocID="{E7C3AAC4-E911-4462-9FFF-B6627384CECF}" presName="sibTransComposite" presStyleCnt="0"/>
      <dgm:spPr/>
    </dgm:pt>
    <dgm:pt modelId="{63076CD2-F3BF-4713-8AEA-9270C58016FB}" type="pres">
      <dgm:prSet presAssocID="{6EB15154-3D5B-4E52-96DA-2BFA61CD677A}" presName="compositeNode" presStyleCnt="0"/>
      <dgm:spPr/>
    </dgm:pt>
    <dgm:pt modelId="{42F4D051-2B10-4E75-9E6A-B8B65F359748}" type="pres">
      <dgm:prSet presAssocID="{6EB15154-3D5B-4E52-96DA-2BFA61CD677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B8341DE-95F6-42D8-90BF-2687F056F7FF}" type="pres">
      <dgm:prSet presAssocID="{6EB15154-3D5B-4E52-96DA-2BFA61CD677A}" presName="parSh" presStyleCnt="0"/>
      <dgm:spPr/>
    </dgm:pt>
    <dgm:pt modelId="{5FC1954F-72B6-4EEF-B288-59AB067B24A5}" type="pres">
      <dgm:prSet presAssocID="{6EB15154-3D5B-4E52-96DA-2BFA61CD677A}" presName="lineNode" presStyleLbl="alignAccFollowNode1" presStyleIdx="9" presStyleCnt="12"/>
      <dgm:spPr/>
    </dgm:pt>
    <dgm:pt modelId="{A193E37E-76A2-48C2-AEAB-B3A2CAEBCF60}" type="pres">
      <dgm:prSet presAssocID="{6EB15154-3D5B-4E52-96DA-2BFA61CD677A}" presName="lineArrowNode" presStyleLbl="alignAccFollowNode1" presStyleIdx="10" presStyleCnt="12"/>
      <dgm:spPr/>
    </dgm:pt>
    <dgm:pt modelId="{4CF72785-FA07-4513-813F-C8EC7F6120C9}" type="pres">
      <dgm:prSet presAssocID="{C90783AA-83E9-4B34-8A0C-A86E29D294C6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7B2A845F-1F3D-4ED6-88C9-1F7915EDEF97}" type="pres">
      <dgm:prSet presAssocID="{C90783AA-83E9-4B34-8A0C-A86E29D294C6}" presName="spacerBetweenCircleAndCallout" presStyleCnt="0">
        <dgm:presLayoutVars/>
      </dgm:prSet>
      <dgm:spPr/>
    </dgm:pt>
    <dgm:pt modelId="{C5973B99-7CBA-4AAA-A6DB-966F13B71929}" type="pres">
      <dgm:prSet presAssocID="{6EB15154-3D5B-4E52-96DA-2BFA61CD677A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B917052F-B8EC-4FE9-A067-35887BF87D27}" srcId="{FE2A19C8-F3FF-49BE-B324-DCEF617573F2}" destId="{85F9F8C9-3214-43D0-A61D-9CDAEF444FEE}" srcOrd="1" destOrd="0" parTransId="{76CEDEEC-8FF4-4302-B827-5464882E3217}" sibTransId="{C57216AC-6234-4B95-9A25-8F20AFCBDDAE}"/>
    <dgm:cxn modelId="{05A2E131-46D0-4229-A038-45FFA3B4A44B}" type="presOf" srcId="{E7C3AAC4-E911-4462-9FFF-B6627384CECF}" destId="{6FB6588B-ED48-44A5-9AEB-E1F3CDCD91F8}" srcOrd="0" destOrd="0" presId="urn:microsoft.com/office/officeart/2016/7/layout/LinearArrowProcessNumbered"/>
    <dgm:cxn modelId="{E4D81F4C-F699-4343-83BC-A136E93D75D3}" srcId="{FE2A19C8-F3FF-49BE-B324-DCEF617573F2}" destId="{4B5B227D-2E31-4607-964B-B80ADC1CF649}" srcOrd="0" destOrd="0" parTransId="{664D93C5-4EEE-4C78-ABAE-69B362D65DC7}" sibTransId="{5484FBBC-7EFE-412A-9F52-D9942E48ACCE}"/>
    <dgm:cxn modelId="{04799557-C69A-4BFE-B3F4-DD996479D06C}" type="presOf" srcId="{C57216AC-6234-4B95-9A25-8F20AFCBDDAE}" destId="{D3F14C93-D4C8-4BBD-9C81-802FB3432A44}" srcOrd="0" destOrd="0" presId="urn:microsoft.com/office/officeart/2016/7/layout/LinearArrowProcessNumbered"/>
    <dgm:cxn modelId="{6BB55282-E5F2-4176-8B18-4750965EDE20}" type="presOf" srcId="{85F9F8C9-3214-43D0-A61D-9CDAEF444FEE}" destId="{BC77B403-FFDC-457E-B469-3CD611EB478C}" srcOrd="0" destOrd="0" presId="urn:microsoft.com/office/officeart/2016/7/layout/LinearArrowProcessNumbered"/>
    <dgm:cxn modelId="{E0DCFAAD-BB20-456A-8249-F8B050CE9010}" type="presOf" srcId="{FE2A19C8-F3FF-49BE-B324-DCEF617573F2}" destId="{C4468A6E-1748-41A6-8684-4B5F15F896FA}" srcOrd="0" destOrd="0" presId="urn:microsoft.com/office/officeart/2016/7/layout/LinearArrowProcessNumbered"/>
    <dgm:cxn modelId="{69D5E6B0-88A7-457C-A370-C6CB50C402C6}" type="presOf" srcId="{C90783AA-83E9-4B34-8A0C-A86E29D294C6}" destId="{4CF72785-FA07-4513-813F-C8EC7F6120C9}" srcOrd="0" destOrd="0" presId="urn:microsoft.com/office/officeart/2016/7/layout/LinearArrowProcessNumbered"/>
    <dgm:cxn modelId="{15EBFBC4-D1D1-4609-81C0-BB1AEAEBA1DA}" type="presOf" srcId="{5484FBBC-7EFE-412A-9F52-D9942E48ACCE}" destId="{189796E4-8E15-4C16-B0F0-CDCBE3CA8462}" srcOrd="0" destOrd="0" presId="urn:microsoft.com/office/officeart/2016/7/layout/LinearArrowProcessNumbered"/>
    <dgm:cxn modelId="{0ECCE4C5-41CF-4DAC-9891-7E17221E78DA}" type="presOf" srcId="{4B5B227D-2E31-4607-964B-B80ADC1CF649}" destId="{5328AB2D-15A9-430B-8D17-339CB4CEB4EF}" srcOrd="0" destOrd="0" presId="urn:microsoft.com/office/officeart/2016/7/layout/LinearArrowProcessNumbered"/>
    <dgm:cxn modelId="{6D886ECE-26B5-46D4-A039-C6459CE2408A}" type="presOf" srcId="{12F43E74-2C7D-456A-8780-E37E7C8E1480}" destId="{D6307470-694C-473E-9C3E-88B6CBE5666A}" srcOrd="0" destOrd="0" presId="urn:microsoft.com/office/officeart/2016/7/layout/LinearArrowProcessNumbered"/>
    <dgm:cxn modelId="{46AEC4DB-23FF-4BDF-9074-15DDA6CA101A}" srcId="{FE2A19C8-F3FF-49BE-B324-DCEF617573F2}" destId="{6EB15154-3D5B-4E52-96DA-2BFA61CD677A}" srcOrd="3" destOrd="0" parTransId="{6AB4B35D-8B3D-480F-ADAE-A02AE04749FA}" sibTransId="{C90783AA-83E9-4B34-8A0C-A86E29D294C6}"/>
    <dgm:cxn modelId="{E66E80E1-1988-4142-99AC-9B56942CE8B0}" srcId="{FE2A19C8-F3FF-49BE-B324-DCEF617573F2}" destId="{12F43E74-2C7D-456A-8780-E37E7C8E1480}" srcOrd="2" destOrd="0" parTransId="{9C3BD87E-15A9-44A6-800F-ECB1BE63B7F8}" sibTransId="{E7C3AAC4-E911-4462-9FFF-B6627384CECF}"/>
    <dgm:cxn modelId="{5870A7F3-B5E0-473B-9495-CFE50CA138F3}" type="presOf" srcId="{6EB15154-3D5B-4E52-96DA-2BFA61CD677A}" destId="{C5973B99-7CBA-4AAA-A6DB-966F13B71929}" srcOrd="0" destOrd="0" presId="urn:microsoft.com/office/officeart/2016/7/layout/LinearArrowProcessNumbered"/>
    <dgm:cxn modelId="{9DCAE990-F85A-423F-8429-0487E13449F8}" type="presParOf" srcId="{C4468A6E-1748-41A6-8684-4B5F15F896FA}" destId="{9ED60B28-709D-4E34-906D-BA29F78B6331}" srcOrd="0" destOrd="0" presId="urn:microsoft.com/office/officeart/2016/7/layout/LinearArrowProcessNumbered"/>
    <dgm:cxn modelId="{446BCF2D-6A0A-4A98-B90E-270351E12BE8}" type="presParOf" srcId="{9ED60B28-709D-4E34-906D-BA29F78B6331}" destId="{0474E3D7-B6A3-4FCD-9AE9-ED550C3E8E03}" srcOrd="0" destOrd="0" presId="urn:microsoft.com/office/officeart/2016/7/layout/LinearArrowProcessNumbered"/>
    <dgm:cxn modelId="{6863B5A7-65B4-4AD1-A224-93CD1B895281}" type="presParOf" srcId="{9ED60B28-709D-4E34-906D-BA29F78B6331}" destId="{10F8348B-3FAC-4A7B-B75A-79254D65E50F}" srcOrd="1" destOrd="0" presId="urn:microsoft.com/office/officeart/2016/7/layout/LinearArrowProcessNumbered"/>
    <dgm:cxn modelId="{43211075-72F5-4B22-BB75-58A6D4CC93B1}" type="presParOf" srcId="{10F8348B-3FAC-4A7B-B75A-79254D65E50F}" destId="{60B254E4-6EA8-4328-AB7A-9B0B6E2B46E1}" srcOrd="0" destOrd="0" presId="urn:microsoft.com/office/officeart/2016/7/layout/LinearArrowProcessNumbered"/>
    <dgm:cxn modelId="{A03C8D31-BD88-445E-A550-05F3039D321A}" type="presParOf" srcId="{10F8348B-3FAC-4A7B-B75A-79254D65E50F}" destId="{D164DF94-1404-45BF-A758-D39E822B9ADE}" srcOrd="1" destOrd="0" presId="urn:microsoft.com/office/officeart/2016/7/layout/LinearArrowProcessNumbered"/>
    <dgm:cxn modelId="{1BDD247E-639D-42B4-9F86-CEF36D5D2FA4}" type="presParOf" srcId="{10F8348B-3FAC-4A7B-B75A-79254D65E50F}" destId="{189796E4-8E15-4C16-B0F0-CDCBE3CA8462}" srcOrd="2" destOrd="0" presId="urn:microsoft.com/office/officeart/2016/7/layout/LinearArrowProcessNumbered"/>
    <dgm:cxn modelId="{060DC4DE-3171-4746-9038-73DEE6F9D224}" type="presParOf" srcId="{10F8348B-3FAC-4A7B-B75A-79254D65E50F}" destId="{045EC92E-32FA-4A5C-99DE-6114F144D452}" srcOrd="3" destOrd="0" presId="urn:microsoft.com/office/officeart/2016/7/layout/LinearArrowProcessNumbered"/>
    <dgm:cxn modelId="{D9FCF1E1-2DC4-4A39-A598-B891FE22DE23}" type="presParOf" srcId="{9ED60B28-709D-4E34-906D-BA29F78B6331}" destId="{5328AB2D-15A9-430B-8D17-339CB4CEB4EF}" srcOrd="2" destOrd="0" presId="urn:microsoft.com/office/officeart/2016/7/layout/LinearArrowProcessNumbered"/>
    <dgm:cxn modelId="{4BCA2A06-B456-4A33-8047-3235BC499C8F}" type="presParOf" srcId="{C4468A6E-1748-41A6-8684-4B5F15F896FA}" destId="{69E9C11A-60B6-417B-AECD-E214C6328487}" srcOrd="1" destOrd="0" presId="urn:microsoft.com/office/officeart/2016/7/layout/LinearArrowProcessNumbered"/>
    <dgm:cxn modelId="{0A856FAB-7306-4EED-9C6F-AEAEDEDB90DE}" type="presParOf" srcId="{C4468A6E-1748-41A6-8684-4B5F15F896FA}" destId="{8422ACDE-4B22-4E72-92E5-61B2B8E44E1A}" srcOrd="2" destOrd="0" presId="urn:microsoft.com/office/officeart/2016/7/layout/LinearArrowProcessNumbered"/>
    <dgm:cxn modelId="{3CD484C8-4A19-4E7D-989A-AA00C35870DA}" type="presParOf" srcId="{8422ACDE-4B22-4E72-92E5-61B2B8E44E1A}" destId="{E85DDF53-B147-4C0F-8BA8-D69DD1E91A1B}" srcOrd="0" destOrd="0" presId="urn:microsoft.com/office/officeart/2016/7/layout/LinearArrowProcessNumbered"/>
    <dgm:cxn modelId="{C29E8750-BCEF-4EAB-B62A-50F0AC339CD8}" type="presParOf" srcId="{8422ACDE-4B22-4E72-92E5-61B2B8E44E1A}" destId="{5C29EA64-F1BC-492D-811B-95F0B23AD9AD}" srcOrd="1" destOrd="0" presId="urn:microsoft.com/office/officeart/2016/7/layout/LinearArrowProcessNumbered"/>
    <dgm:cxn modelId="{46466D51-E8AB-412D-86EC-7907897D777B}" type="presParOf" srcId="{5C29EA64-F1BC-492D-811B-95F0B23AD9AD}" destId="{46C2DC67-9485-4D17-A193-83F7994A836E}" srcOrd="0" destOrd="0" presId="urn:microsoft.com/office/officeart/2016/7/layout/LinearArrowProcessNumbered"/>
    <dgm:cxn modelId="{E3A61072-4561-40CC-B4E1-C6822F3BE5E6}" type="presParOf" srcId="{5C29EA64-F1BC-492D-811B-95F0B23AD9AD}" destId="{B08668D8-4F6D-4665-9BD0-BA28B2E34123}" srcOrd="1" destOrd="0" presId="urn:microsoft.com/office/officeart/2016/7/layout/LinearArrowProcessNumbered"/>
    <dgm:cxn modelId="{64D3E859-0E72-41A3-884B-94A2F0015470}" type="presParOf" srcId="{5C29EA64-F1BC-492D-811B-95F0B23AD9AD}" destId="{D3F14C93-D4C8-4BBD-9C81-802FB3432A44}" srcOrd="2" destOrd="0" presId="urn:microsoft.com/office/officeart/2016/7/layout/LinearArrowProcessNumbered"/>
    <dgm:cxn modelId="{EC5290BA-4895-40F3-B735-7D6B307D46D2}" type="presParOf" srcId="{5C29EA64-F1BC-492D-811B-95F0B23AD9AD}" destId="{59674A29-B5AE-4D03-9A0B-DB24ECBBC337}" srcOrd="3" destOrd="0" presId="urn:microsoft.com/office/officeart/2016/7/layout/LinearArrowProcessNumbered"/>
    <dgm:cxn modelId="{4B4CB33C-D40D-4309-9C21-255AC99985BA}" type="presParOf" srcId="{8422ACDE-4B22-4E72-92E5-61B2B8E44E1A}" destId="{BC77B403-FFDC-457E-B469-3CD611EB478C}" srcOrd="2" destOrd="0" presId="urn:microsoft.com/office/officeart/2016/7/layout/LinearArrowProcessNumbered"/>
    <dgm:cxn modelId="{2249BAAB-028F-47BD-BCF8-8C11256B0273}" type="presParOf" srcId="{C4468A6E-1748-41A6-8684-4B5F15F896FA}" destId="{B808ABCC-A9D3-43B9-BB4C-E0BF55A0BDEE}" srcOrd="3" destOrd="0" presId="urn:microsoft.com/office/officeart/2016/7/layout/LinearArrowProcessNumbered"/>
    <dgm:cxn modelId="{C202CE45-053D-48F2-B51A-19E6C7E117D4}" type="presParOf" srcId="{C4468A6E-1748-41A6-8684-4B5F15F896FA}" destId="{AB680357-C649-4AAC-9FCF-4CE42219FA20}" srcOrd="4" destOrd="0" presId="urn:microsoft.com/office/officeart/2016/7/layout/LinearArrowProcessNumbered"/>
    <dgm:cxn modelId="{05109F3C-9DFA-4CFA-A86C-388EFBCEE391}" type="presParOf" srcId="{AB680357-C649-4AAC-9FCF-4CE42219FA20}" destId="{B07213B5-AA3F-46FE-ABF0-163C1654780D}" srcOrd="0" destOrd="0" presId="urn:microsoft.com/office/officeart/2016/7/layout/LinearArrowProcessNumbered"/>
    <dgm:cxn modelId="{59A276EC-0847-4092-B2EA-16F9333D2F00}" type="presParOf" srcId="{AB680357-C649-4AAC-9FCF-4CE42219FA20}" destId="{B3656EED-E58D-41CF-BA66-770CC61EA2C3}" srcOrd="1" destOrd="0" presId="urn:microsoft.com/office/officeart/2016/7/layout/LinearArrowProcessNumbered"/>
    <dgm:cxn modelId="{EC5A1074-C4FC-46C1-AC09-74962315F2A3}" type="presParOf" srcId="{B3656EED-E58D-41CF-BA66-770CC61EA2C3}" destId="{9B703E64-102C-4B62-BA60-538B8588E56E}" srcOrd="0" destOrd="0" presId="urn:microsoft.com/office/officeart/2016/7/layout/LinearArrowProcessNumbered"/>
    <dgm:cxn modelId="{6072431D-E72E-48BD-9D9D-4A31A58B298F}" type="presParOf" srcId="{B3656EED-E58D-41CF-BA66-770CC61EA2C3}" destId="{019D60EB-FC98-4D6D-9D50-B8B33BD88BE6}" srcOrd="1" destOrd="0" presId="urn:microsoft.com/office/officeart/2016/7/layout/LinearArrowProcessNumbered"/>
    <dgm:cxn modelId="{F47D0A0F-7535-4ACF-ABD6-466E7C6CCDF7}" type="presParOf" srcId="{B3656EED-E58D-41CF-BA66-770CC61EA2C3}" destId="{6FB6588B-ED48-44A5-9AEB-E1F3CDCD91F8}" srcOrd="2" destOrd="0" presId="urn:microsoft.com/office/officeart/2016/7/layout/LinearArrowProcessNumbered"/>
    <dgm:cxn modelId="{FB9071AB-5B67-4AC6-94D3-31D574CA2461}" type="presParOf" srcId="{B3656EED-E58D-41CF-BA66-770CC61EA2C3}" destId="{6D272620-6FAF-411F-ADB9-463361F9D4C0}" srcOrd="3" destOrd="0" presId="urn:microsoft.com/office/officeart/2016/7/layout/LinearArrowProcessNumbered"/>
    <dgm:cxn modelId="{EAD9EBDE-74CB-47D7-947E-99C9C618CAA3}" type="presParOf" srcId="{AB680357-C649-4AAC-9FCF-4CE42219FA20}" destId="{D6307470-694C-473E-9C3E-88B6CBE5666A}" srcOrd="2" destOrd="0" presId="urn:microsoft.com/office/officeart/2016/7/layout/LinearArrowProcessNumbered"/>
    <dgm:cxn modelId="{E0A5CED6-A949-401B-834C-32A3C7174121}" type="presParOf" srcId="{C4468A6E-1748-41A6-8684-4B5F15F896FA}" destId="{D49CE1A7-2D93-4C95-A392-0BBB760CA632}" srcOrd="5" destOrd="0" presId="urn:microsoft.com/office/officeart/2016/7/layout/LinearArrowProcessNumbered"/>
    <dgm:cxn modelId="{52AFC9ED-2217-498C-AE99-E92DDC90083E}" type="presParOf" srcId="{C4468A6E-1748-41A6-8684-4B5F15F896FA}" destId="{63076CD2-F3BF-4713-8AEA-9270C58016FB}" srcOrd="6" destOrd="0" presId="urn:microsoft.com/office/officeart/2016/7/layout/LinearArrowProcessNumbered"/>
    <dgm:cxn modelId="{483EF2FE-F021-47D3-88E6-256244A34EBD}" type="presParOf" srcId="{63076CD2-F3BF-4713-8AEA-9270C58016FB}" destId="{42F4D051-2B10-4E75-9E6A-B8B65F359748}" srcOrd="0" destOrd="0" presId="urn:microsoft.com/office/officeart/2016/7/layout/LinearArrowProcessNumbered"/>
    <dgm:cxn modelId="{9B885030-57E9-4E94-95A0-F9F598977FC4}" type="presParOf" srcId="{63076CD2-F3BF-4713-8AEA-9270C58016FB}" destId="{3B8341DE-95F6-42D8-90BF-2687F056F7FF}" srcOrd="1" destOrd="0" presId="urn:microsoft.com/office/officeart/2016/7/layout/LinearArrowProcessNumbered"/>
    <dgm:cxn modelId="{2D9837FE-8502-46CB-B931-EE3BE1DA2083}" type="presParOf" srcId="{3B8341DE-95F6-42D8-90BF-2687F056F7FF}" destId="{5FC1954F-72B6-4EEF-B288-59AB067B24A5}" srcOrd="0" destOrd="0" presId="urn:microsoft.com/office/officeart/2016/7/layout/LinearArrowProcessNumbered"/>
    <dgm:cxn modelId="{1BB586BD-0A98-4627-89D2-448EE3E097CC}" type="presParOf" srcId="{3B8341DE-95F6-42D8-90BF-2687F056F7FF}" destId="{A193E37E-76A2-48C2-AEAB-B3A2CAEBCF60}" srcOrd="1" destOrd="0" presId="urn:microsoft.com/office/officeart/2016/7/layout/LinearArrowProcessNumbered"/>
    <dgm:cxn modelId="{C5E6DA63-8E87-47C3-8714-F3C28BCA97A9}" type="presParOf" srcId="{3B8341DE-95F6-42D8-90BF-2687F056F7FF}" destId="{4CF72785-FA07-4513-813F-C8EC7F6120C9}" srcOrd="2" destOrd="0" presId="urn:microsoft.com/office/officeart/2016/7/layout/LinearArrowProcessNumbered"/>
    <dgm:cxn modelId="{B68B6588-0C27-4298-8F14-9A8086AD0115}" type="presParOf" srcId="{3B8341DE-95F6-42D8-90BF-2687F056F7FF}" destId="{7B2A845F-1F3D-4ED6-88C9-1F7915EDEF97}" srcOrd="3" destOrd="0" presId="urn:microsoft.com/office/officeart/2016/7/layout/LinearArrowProcessNumbered"/>
    <dgm:cxn modelId="{182DCF96-54C4-478F-8263-1546D9B70C9C}" type="presParOf" srcId="{63076CD2-F3BF-4713-8AEA-9270C58016FB}" destId="{C5973B99-7CBA-4AAA-A6DB-966F13B71929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254E4-6EA8-4328-AB7A-9B0B6E2B46E1}">
      <dsp:nvSpPr>
        <dsp:cNvPr id="0" name=""/>
        <dsp:cNvSpPr/>
      </dsp:nvSpPr>
      <dsp:spPr>
        <a:xfrm>
          <a:off x="1156230" y="748429"/>
          <a:ext cx="924490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DF94-1404-45BF-A758-D39E822B9ADE}">
      <dsp:nvSpPr>
        <dsp:cNvPr id="0" name=""/>
        <dsp:cNvSpPr/>
      </dsp:nvSpPr>
      <dsp:spPr>
        <a:xfrm>
          <a:off x="2136190" y="670119"/>
          <a:ext cx="106316" cy="20138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796E4-8E15-4C16-B0F0-CDCBE3CA8462}">
      <dsp:nvSpPr>
        <dsp:cNvPr id="0" name=""/>
        <dsp:cNvSpPr/>
      </dsp:nvSpPr>
      <dsp:spPr>
        <a:xfrm>
          <a:off x="563825" y="271622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1</a:t>
          </a:r>
        </a:p>
      </dsp:txBody>
      <dsp:txXfrm>
        <a:off x="703489" y="411286"/>
        <a:ext cx="674358" cy="674358"/>
      </dsp:txXfrm>
    </dsp:sp>
    <dsp:sp modelId="{5328AB2D-15A9-430B-8D17-339CB4CEB4EF}">
      <dsp:nvSpPr>
        <dsp:cNvPr id="0" name=""/>
        <dsp:cNvSpPr/>
      </dsp:nvSpPr>
      <dsp:spPr>
        <a:xfrm>
          <a:off x="617" y="1390847"/>
          <a:ext cx="2080103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81" tIns="165100" rIns="164081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b="1" kern="1200" dirty="0">
              <a:latin typeface="Gill Sans MT" panose="020B0502020104020203" pitchFamily="34" charset="0"/>
            </a:rPr>
            <a:t>To evaluate the effect of different temperatures 4°C and 20 °C on pinking susceptibility</a:t>
          </a:r>
          <a:endParaRPr lang="en-US" sz="1800" kern="1200" dirty="0">
            <a:latin typeface="Gill Sans MT" panose="020B0502020104020203" pitchFamily="34" charset="0"/>
          </a:endParaRPr>
        </a:p>
      </dsp:txBody>
      <dsp:txXfrm>
        <a:off x="617" y="1806868"/>
        <a:ext cx="2080103" cy="2040979"/>
      </dsp:txXfrm>
    </dsp:sp>
    <dsp:sp modelId="{46C2DC67-9485-4D17-A193-83F7994A836E}">
      <dsp:nvSpPr>
        <dsp:cNvPr id="0" name=""/>
        <dsp:cNvSpPr/>
      </dsp:nvSpPr>
      <dsp:spPr>
        <a:xfrm>
          <a:off x="2311843" y="748604"/>
          <a:ext cx="2080103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8668D8-4F6D-4665-9BD0-BA28B2E34123}">
      <dsp:nvSpPr>
        <dsp:cNvPr id="0" name=""/>
        <dsp:cNvSpPr/>
      </dsp:nvSpPr>
      <dsp:spPr>
        <a:xfrm>
          <a:off x="4447416" y="670265"/>
          <a:ext cx="106316" cy="20153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14C93-D4C8-4BBD-9C81-802FB3432A44}">
      <dsp:nvSpPr>
        <dsp:cNvPr id="0" name=""/>
        <dsp:cNvSpPr/>
      </dsp:nvSpPr>
      <dsp:spPr>
        <a:xfrm>
          <a:off x="2875052" y="271796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2</a:t>
          </a:r>
        </a:p>
      </dsp:txBody>
      <dsp:txXfrm>
        <a:off x="3014716" y="411460"/>
        <a:ext cx="674358" cy="674358"/>
      </dsp:txXfrm>
    </dsp:sp>
    <dsp:sp modelId="{BC77B403-FFDC-457E-B469-3CD611EB478C}">
      <dsp:nvSpPr>
        <dsp:cNvPr id="0" name=""/>
        <dsp:cNvSpPr/>
      </dsp:nvSpPr>
      <dsp:spPr>
        <a:xfrm>
          <a:off x="2311843" y="1391257"/>
          <a:ext cx="2080103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81" tIns="165100" rIns="164081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>
              <a:latin typeface="Gill Sans MT" panose="020B0502020104020203" pitchFamily="34" charset="0"/>
            </a:rPr>
            <a:t>To assess the influence of different bag press methods : (BW vs BC) on pinking susceptibility</a:t>
          </a:r>
          <a:endParaRPr lang="en-US" sz="1800" b="1" kern="1200" dirty="0">
            <a:latin typeface="Gill Sans MT" panose="020B0502020104020203" pitchFamily="34" charset="0"/>
          </a:endParaRPr>
        </a:p>
      </dsp:txBody>
      <dsp:txXfrm>
        <a:off x="2311843" y="1807278"/>
        <a:ext cx="2080103" cy="2040979"/>
      </dsp:txXfrm>
    </dsp:sp>
    <dsp:sp modelId="{9B703E64-102C-4B62-BA60-538B8588E56E}">
      <dsp:nvSpPr>
        <dsp:cNvPr id="0" name=""/>
        <dsp:cNvSpPr/>
      </dsp:nvSpPr>
      <dsp:spPr>
        <a:xfrm>
          <a:off x="4623069" y="748604"/>
          <a:ext cx="209854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D60EB-FC98-4D6D-9D50-B8B33BD88BE6}">
      <dsp:nvSpPr>
        <dsp:cNvPr id="0" name=""/>
        <dsp:cNvSpPr/>
      </dsp:nvSpPr>
      <dsp:spPr>
        <a:xfrm>
          <a:off x="6777579" y="670265"/>
          <a:ext cx="107259" cy="20153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6588B-ED48-44A5-9AEB-E1F3CDCD91F8}">
      <dsp:nvSpPr>
        <dsp:cNvPr id="0" name=""/>
        <dsp:cNvSpPr/>
      </dsp:nvSpPr>
      <dsp:spPr>
        <a:xfrm>
          <a:off x="5195500" y="271796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3</a:t>
          </a:r>
        </a:p>
      </dsp:txBody>
      <dsp:txXfrm>
        <a:off x="5335164" y="411460"/>
        <a:ext cx="674358" cy="674358"/>
      </dsp:txXfrm>
    </dsp:sp>
    <dsp:sp modelId="{D6307470-694C-473E-9C3E-88B6CBE5666A}">
      <dsp:nvSpPr>
        <dsp:cNvPr id="0" name=""/>
        <dsp:cNvSpPr/>
      </dsp:nvSpPr>
      <dsp:spPr>
        <a:xfrm>
          <a:off x="4684984" y="1391257"/>
          <a:ext cx="1916197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920" tIns="165100" rIns="160920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i="0" kern="1200" dirty="0">
              <a:latin typeface="Gill Sans MT" panose="020B0502020104020203" pitchFamily="34" charset="0"/>
            </a:rPr>
            <a:t>To assess the effect of different ripening stages on the pinking susceptibility.</a:t>
          </a:r>
          <a:endParaRPr lang="en-US" sz="1800" kern="1200" dirty="0">
            <a:latin typeface="Gill Sans MT" panose="020B0502020104020203" pitchFamily="34" charset="0"/>
          </a:endParaRPr>
        </a:p>
      </dsp:txBody>
      <dsp:txXfrm>
        <a:off x="4684984" y="1774496"/>
        <a:ext cx="1916197" cy="2073761"/>
      </dsp:txXfrm>
    </dsp:sp>
    <dsp:sp modelId="{5FC1954F-72B6-4EEF-B288-59AB067B24A5}">
      <dsp:nvSpPr>
        <dsp:cNvPr id="0" name=""/>
        <dsp:cNvSpPr/>
      </dsp:nvSpPr>
      <dsp:spPr>
        <a:xfrm>
          <a:off x="7015036" y="748604"/>
          <a:ext cx="1040051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72785-FA07-4513-813F-C8EC7F6120C9}">
      <dsp:nvSpPr>
        <dsp:cNvPr id="0" name=""/>
        <dsp:cNvSpPr/>
      </dsp:nvSpPr>
      <dsp:spPr>
        <a:xfrm>
          <a:off x="7578245" y="271796"/>
          <a:ext cx="953686" cy="9536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008" tIns="37008" rIns="37008" bIns="3700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4</a:t>
          </a:r>
          <a:endParaRPr lang="en-US" sz="4200" kern="1200" dirty="0"/>
        </a:p>
      </dsp:txBody>
      <dsp:txXfrm>
        <a:off x="7717909" y="411460"/>
        <a:ext cx="674358" cy="674358"/>
      </dsp:txXfrm>
    </dsp:sp>
    <dsp:sp modelId="{C5973B99-7CBA-4AAA-A6DB-966F13B71929}">
      <dsp:nvSpPr>
        <dsp:cNvPr id="0" name=""/>
        <dsp:cNvSpPr/>
      </dsp:nvSpPr>
      <dsp:spPr>
        <a:xfrm>
          <a:off x="7015036" y="1391257"/>
          <a:ext cx="2080103" cy="24570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081" tIns="165100" rIns="164081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>
              <a:latin typeface="Gill Sans MT" panose="020B0502020104020203" pitchFamily="34" charset="0"/>
            </a:rPr>
            <a:t>To identify wavenumbers associated with prominent peaks that indicate potential pinking susceptibility in wine samples. </a:t>
          </a:r>
          <a:endParaRPr lang="en-US" sz="1600" kern="1200" dirty="0">
            <a:latin typeface="Gill Sans MT" panose="020B0502020104020203" pitchFamily="34" charset="0"/>
          </a:endParaRPr>
        </a:p>
      </dsp:txBody>
      <dsp:txXfrm>
        <a:off x="7015036" y="1807278"/>
        <a:ext cx="2080103" cy="2040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0ABC1-F65B-4A71-929B-348677D720AD}" type="datetimeFigureOut">
              <a:rPr lang="en-ZA" smtClean="0"/>
              <a:t>2026/08/20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9C2D8-58F0-4010-8FA0-43A24C3C21A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9898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29C2D8-58F0-4010-8FA0-43A24C3C21A8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146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152C-2096-4C43-3D73-FF06DB3FC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29BD3-D651-922E-E617-731091B16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CA7AB-D0EA-E894-66C0-600E57E6E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DF60-464C-4BD4-8D0A-3624F70F8F0E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C05C1-0AB9-FD6E-B6C8-4BBA14D4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BF3D9-CC55-B32E-F992-1A8936E0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4CA8-F650-4055-9541-1E017D8B8873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610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8D9E5-E092-43A6-3577-DB6F428E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F6FF7-B772-1204-0161-7885E074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9CE3E-6552-6829-4B80-FDC56B2C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94CB6-5BF6-E85C-491B-47AE9962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88D81-891C-E5C9-C7D9-9F0027FE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F80F97-027C-013F-EF24-CBE59477B3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4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5A19-E5CC-9B2F-A6C4-3455F212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E27D6-1CB2-0A55-672F-0EA0193B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17A2-AC9B-66BD-C17D-E2E306A5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A8D51-1E9B-4081-9BDD-D3361D3886B9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ADBAE-7D3A-4E0C-2535-254BAE21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70120-AC00-9251-9282-DD728143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D5056D-7871-236C-CCCA-329DCB3A2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0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1650-4DBA-C9C6-0651-0D432F3E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DB4B9-C684-C035-AC3E-9271234D3E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BEBEA-9174-51D8-100F-E43D5EDE3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C735F-F074-223E-1EF5-81B91BA8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5B0A7-0E05-4A59-9704-66249F2DB4B6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2DD22-D231-38E0-5B9A-E3E516F5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869D1-8866-BBE1-3AAF-9F3C2CE8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8AD98-A2E6-3336-320A-ECEF20CCD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2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47CC-D2A6-B7B3-1F53-6AEF196C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8021E-3B12-37C9-BDBF-7414131D5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5429-0049-E0A5-A242-25CDCACE2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780696-0538-CFD1-66F3-753FEE43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C7CDA-42EA-0D1D-560C-627902974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4A7A6-44AE-4EE6-C12D-39680A1C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AA33-B745-4BC3-A7A4-D355A3B07D87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C9AD8-888A-A712-9D1A-1226B497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3AA6BD-A745-1EBE-E244-2916B000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0EA11C-E7CD-3965-1035-0AA51BDFE2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5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603A-B09D-AC04-769B-93A7E1AEA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66376-96AA-BDEB-2F19-1A148BF5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66AD8-C202-41FF-A62D-A144727F6E0D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F958C-79D3-192D-795B-C22951CB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A2F08-4746-338E-69E8-AF31E235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06F2BB-2951-4792-839D-327D2D408F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5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D60E6-64A4-AECC-904D-DC2B5333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A318-0514-4A73-AF9E-6FD7E8DE28C5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778DB-CC2E-94BE-C04D-A0714FE4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F4F7-2C66-69B9-04DE-1D16BD30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2F21B-BF1E-9845-93F6-7F1D3A967A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CF63-A2C3-6440-7A49-9953C930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1BAD-3ED6-6A8D-5437-0784A183F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7B77E-9E51-41DA-EB84-09F95CFDC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7B4D7-7C14-B048-672C-9186D561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222A4-F6FA-4A8C-B835-174C86BB7792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F815-B414-D960-B117-6887F576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E9022-1B0E-12BB-3EA7-A596D8ED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940C5F-E9ED-B7AB-43CA-144941CDCD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2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A7ED-2042-28C9-B7D9-24FDF078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89655-7996-EB26-63C3-16A6B3B95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A74A0-64DE-3D11-741D-F88ADAE33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E1B45-1CD3-7322-0CF8-49030010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48FF-BE5F-402F-88D0-0E42A85B39E9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1F66B-2F42-DFF0-CB59-8BBB3F42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A247-8159-FF77-08D9-68700168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F8E914-CE01-A943-0E91-017257B651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6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8B41-DF19-2781-5C9B-F4D0DA4C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620B6-AE18-D25A-2A00-4DE6BB57D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F8B0B-BD4A-5A35-DCB4-292E98D6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F3A4F-CABF-4398-994B-8C345006B0B3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6E466-9797-88C3-DB35-45588E0C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0899-5322-DF47-BBE1-A58C53D2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2CD66A-CAF7-98BB-18D1-067634EF21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D249D-807E-35EC-9187-1B63D0875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69CF6-3FE0-7A1A-436C-DA33E4FB0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F1BF6-C3CE-05C8-AB2B-08AFDA64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FC908-19E6-4536-8040-5F510F63B829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45973-6842-80E9-AB4D-A9D167E07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94493-414E-3601-4EBC-D6BD385B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D5905-5E23-0CD3-A599-FFF4DCC7B1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5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93D7D8-53B3-0288-759F-A47F1B8B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FEED2-2742-75A8-3F85-08F5E57AD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62E30-FB6B-0E0D-EF17-0D6829059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42D48-62C4-4B3C-ABE0-5DCF990D9E2D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A1C87-870D-082A-C1D8-54EC42938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D71C-C919-1316-5DB6-A5488F338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C5D13-0321-4383-81EA-F2073319DF27}" type="slidenum">
              <a:rPr lang="en-ZA" smtClean="0"/>
              <a:pPr/>
              <a:t>‹#›</a:t>
            </a:fld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F1DC7E-44A7-86E1-D226-2168075EAB6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00" y="6294437"/>
            <a:ext cx="1955800" cy="48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9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Farm field with buildings">
            <a:extLst>
              <a:ext uri="{FF2B5EF4-FFF2-40B4-BE49-F238E27FC236}">
                <a16:creationId xmlns:a16="http://schemas.microsoft.com/office/drawing/2014/main" id="{CBB58E99-47A0-4173-CE4E-AA07A55970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94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en-US" sz="2100" b="1" dirty="0">
                <a:ln>
                  <a:noFill/>
                </a:ln>
                <a:latin typeface="Arial" panose="020B0604020202020204" pitchFamily="34" charset="0"/>
                <a:ea typeface="Times New Roman" panose="02020603050405020304" pitchFamily="18" charset="0"/>
              </a:rPr>
              <a:t>INVESTIGATING WINESCAN AS A TOOL FOR IDENTIFYING PINKING IN WINE: A STUDY OF TREATMENTS AND THEIR EFFECTS</a:t>
            </a:r>
            <a:br>
              <a:rPr lang="en-ZA" altLang="en-US" sz="2100" dirty="0">
                <a:ln>
                  <a:noFill/>
                </a:ln>
                <a:latin typeface="Arial" panose="020B0604020202020204" pitchFamily="34" charset="0"/>
              </a:rPr>
            </a:br>
            <a:endParaRPr lang="en-ZA" sz="2100" dirty="0"/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>
            <a:normAutofit/>
          </a:bodyPr>
          <a:lstStyle/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Nqabakazi Dyantyi,</a:t>
            </a:r>
          </a:p>
          <a:p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 Dr A.P Nel &amp; Dr </a:t>
            </a:r>
            <a:r>
              <a:rPr lang="en-US" altLang="en-US" b="1" dirty="0"/>
              <a:t>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Eldud</a:t>
            </a:r>
            <a:endParaRPr lang="en-ZA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4AF0AD1-B766-432B-BF86-45FD7A2A5449}" type="datetime3">
              <a:rPr lang="en-ZA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 August 2026</a:t>
            </a:fld>
            <a:endParaRPr lang="en-ZA">
              <a:solidFill>
                <a:srgbClr val="FFFFFF"/>
              </a:solidFill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>
                <a:solidFill>
                  <a:srgbClr val="FFFFFF"/>
                </a:solidFill>
              </a:rPr>
              <a:t>Department of Mathematics &amp; Physics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BAB4CA8-F650-4055-9541-1E017D8B8873}" type="slidenum">
              <a:rPr lang="en-ZA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Z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76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 on document with pen">
            <a:extLst>
              <a:ext uri="{FF2B5EF4-FFF2-40B4-BE49-F238E27FC236}">
                <a16:creationId xmlns:a16="http://schemas.microsoft.com/office/drawing/2014/main" id="{7A66A8C6-E37B-1E30-CDCF-D255F40ECA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1414" r="-1" b="14313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1056" y="1"/>
            <a:ext cx="7185399" cy="609600"/>
          </a:xfrm>
        </p:spPr>
        <p:txBody>
          <a:bodyPr>
            <a:normAutofit fontScale="90000"/>
          </a:bodyPr>
          <a:lstStyle/>
          <a:p>
            <a:r>
              <a:rPr lang="en-ZA" dirty="0">
                <a:latin typeface="Gill Sans MT" panose="020B0502020104020203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60" y="1600198"/>
            <a:ext cx="9308462" cy="426212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endParaRPr lang="en-US" sz="1800" dirty="0">
              <a:latin typeface="Gill Sans MT" panose="020B05020201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endParaRPr lang="en-US" sz="1800" dirty="0">
              <a:latin typeface="Gill Sans MT" panose="020B05020201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endParaRPr lang="en-US" sz="1800" dirty="0">
              <a:effectLst/>
              <a:latin typeface="Gill Sans MT" panose="020B05020201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endParaRPr lang="en-US" sz="1800" dirty="0">
              <a:latin typeface="Gill Sans MT" panose="020B05020201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400" dirty="0"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Before bottling </a:t>
            </a:r>
            <a:endParaRPr lang="en-US" sz="1400" dirty="0">
              <a:effectLst/>
              <a:latin typeface="Gill Sans MT" panose="020B05020201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 marketability + financial loss 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Traditional Methods of Detection:	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 + subjective methods +</a:t>
            </a:r>
            <a:r>
              <a:rPr lang="en-US" sz="1400" dirty="0"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Inaccurate </a:t>
            </a:r>
            <a:r>
              <a:rPr lang="en-US" sz="1400" dirty="0"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unreliable	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WineScan with FTIR Spectroscopy:	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Non-destructive	+</a:t>
            </a:r>
            <a:r>
              <a:rPr lang="en-US" sz="1400" dirty="0"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Gill Sans MT" panose="020B05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accurate and reliable</a:t>
            </a:r>
            <a:endParaRPr lang="en-US" sz="14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0E92323-7ABC-4498-80E8-B6DCDA8BA80E}" type="datetime3">
              <a:rPr lang="en-ZA" smtClean="0"/>
              <a:pPr>
                <a:spcAft>
                  <a:spcPts val="600"/>
                </a:spcAft>
              </a:pPr>
              <a:t>20 August 2026</a:t>
            </a:fld>
            <a:endParaRPr lang="en-Z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5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500" dirty="0"/>
              <a:t>Department of Mathematics &amp; Physics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ZA"/>
          </a:p>
        </p:txBody>
      </p:sp>
      <p:pic>
        <p:nvPicPr>
          <p:cNvPr id="12" name="Picture 11" descr="Two glasses of wine on a table&#10;&#10;Description automatically generated">
            <a:extLst>
              <a:ext uri="{FF2B5EF4-FFF2-40B4-BE49-F238E27FC236}">
                <a16:creationId xmlns:a16="http://schemas.microsoft.com/office/drawing/2014/main" id="{D076D628-CDA1-9A14-123F-DD0131B46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640" y="739964"/>
            <a:ext cx="7887790" cy="327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9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70A4-2F2B-6091-A021-5C38C559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OBJECTIVES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A808D189-5A39-EF90-C27F-47915EDEA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61837"/>
              </p:ext>
            </p:extLst>
          </p:nvPr>
        </p:nvGraphicFramePr>
        <p:xfrm>
          <a:off x="1788160" y="2052321"/>
          <a:ext cx="9326880" cy="4119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ABD67-75A4-EE1E-D06B-0882E47E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C3D31-7C2B-2630-77C2-AD880557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500"/>
              <a:t>Department of Mathematics &amp; Physics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A5917-630B-FC75-02F0-C2100E77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192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F58C-FE47-0434-7473-1E63CA79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5" y="213360"/>
            <a:ext cx="11059885" cy="75546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Gill Sans MT" panose="020B0502020104020203" pitchFamily="34" charset="0"/>
                <a:cs typeface="Times New Roman" panose="02020603050405020304" pitchFamily="18" charset="0"/>
              </a:rPr>
              <a:t>METHODOLOGY </a:t>
            </a:r>
            <a:br>
              <a:rPr lang="en-US" dirty="0">
                <a:latin typeface="Gill Sans MT" panose="020B0502020104020203" pitchFamily="34" charset="0"/>
                <a:cs typeface="Times New Roman" panose="02020603050405020304" pitchFamily="18" charset="0"/>
              </a:rPr>
            </a:br>
            <a:r>
              <a:rPr lang="en-ZA" sz="2000" dirty="0">
                <a:latin typeface="Gill Sans MT" panose="020B0502020104020203" pitchFamily="34" charset="0"/>
              </a:rPr>
              <a:t>Table 1:  Outline of dataset</a:t>
            </a:r>
            <a:br>
              <a:rPr lang="en-US" dirty="0">
                <a:latin typeface="Gill Sans MT" panose="020B0502020104020203" pitchFamily="34" charset="0"/>
                <a:cs typeface="Times New Roman" panose="02020603050405020304" pitchFamily="18" charset="0"/>
              </a:rPr>
            </a:br>
            <a:br>
              <a:rPr lang="en-ZA" sz="2000" dirty="0">
                <a:latin typeface="Gill Sans MT" panose="020B0502020104020203" pitchFamily="34" charset="0"/>
              </a:rPr>
            </a:br>
            <a:br>
              <a:rPr lang="en-ZA" dirty="0"/>
            </a:br>
            <a:endParaRPr lang="en-US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>
                <a:extLst>
                  <a:ext uri="{FF2B5EF4-FFF2-40B4-BE49-F238E27FC236}">
                    <a16:creationId xmlns:a16="http://schemas.microsoft.com/office/drawing/2014/main" id="{6EDC3686-A324-E850-492C-3FD60937D87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65781168"/>
                  </p:ext>
                </p:extLst>
              </p:nvPr>
            </p:nvGraphicFramePr>
            <p:xfrm>
              <a:off x="544285" y="1153886"/>
              <a:ext cx="11288487" cy="54707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39380">
                      <a:extLst>
                        <a:ext uri="{9D8B030D-6E8A-4147-A177-3AD203B41FA5}">
                          <a16:colId xmlns:a16="http://schemas.microsoft.com/office/drawing/2014/main" val="3443042383"/>
                        </a:ext>
                      </a:extLst>
                    </a:gridCol>
                    <a:gridCol w="1724187">
                      <a:extLst>
                        <a:ext uri="{9D8B030D-6E8A-4147-A177-3AD203B41FA5}">
                          <a16:colId xmlns:a16="http://schemas.microsoft.com/office/drawing/2014/main" val="590189782"/>
                        </a:ext>
                      </a:extLst>
                    </a:gridCol>
                    <a:gridCol w="4232491">
                      <a:extLst>
                        <a:ext uri="{9D8B030D-6E8A-4147-A177-3AD203B41FA5}">
                          <a16:colId xmlns:a16="http://schemas.microsoft.com/office/drawing/2014/main" val="1542643688"/>
                        </a:ext>
                      </a:extLst>
                    </a:gridCol>
                    <a:gridCol w="3292429">
                      <a:extLst>
                        <a:ext uri="{9D8B030D-6E8A-4147-A177-3AD203B41FA5}">
                          <a16:colId xmlns:a16="http://schemas.microsoft.com/office/drawing/2014/main" val="578781599"/>
                        </a:ext>
                      </a:extLst>
                    </a:gridCol>
                  </a:tblGrid>
                  <a:tr h="337108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Variable Name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Type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Description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Unit/Category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3817206331"/>
                      </a:ext>
                    </a:extLst>
                  </a:tr>
                  <a:tr h="71907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Sample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Categorical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It identifies the wine sample for example (AN48, AN49, etc.)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Sample ID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552790731"/>
                      </a:ext>
                    </a:extLst>
                  </a:tr>
                  <a:tr h="71907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Replicate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Categorical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Describes the replication number to ensure consistency in measurements.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1 or 2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2270156863"/>
                      </a:ext>
                    </a:extLst>
                  </a:tr>
                  <a:tr h="71907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Treatment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Categorical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Describes the type of treatment that is applied to the sample.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Ripening stage, temperature or press method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400270754"/>
                      </a:ext>
                    </a:extLst>
                  </a:tr>
                  <a:tr h="148300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Wavenumbers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Numerical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Describes the wavenumbers at which the absorbance was measured, represents the frequency of light that interacts with the wine samples.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ZA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𝑐𝑚</m:t>
                                    </m:r>
                                  </m:e>
                                  <m:sup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274490674"/>
                      </a:ext>
                    </a:extLst>
                  </a:tr>
                  <a:tr h="1101038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Absorbance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Numerical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Describes the absorbance value that was recorded for each sample, indicating the amount of light absorbed. 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Absorbance (AU)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26915181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>
                <a:extLst>
                  <a:ext uri="{FF2B5EF4-FFF2-40B4-BE49-F238E27FC236}">
                    <a16:creationId xmlns:a16="http://schemas.microsoft.com/office/drawing/2014/main" id="{6EDC3686-A324-E850-492C-3FD60937D87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65781168"/>
                  </p:ext>
                </p:extLst>
              </p:nvPr>
            </p:nvGraphicFramePr>
            <p:xfrm>
              <a:off x="544285" y="1153886"/>
              <a:ext cx="11288487" cy="54707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39380">
                      <a:extLst>
                        <a:ext uri="{9D8B030D-6E8A-4147-A177-3AD203B41FA5}">
                          <a16:colId xmlns:a16="http://schemas.microsoft.com/office/drawing/2014/main" val="3443042383"/>
                        </a:ext>
                      </a:extLst>
                    </a:gridCol>
                    <a:gridCol w="1724187">
                      <a:extLst>
                        <a:ext uri="{9D8B030D-6E8A-4147-A177-3AD203B41FA5}">
                          <a16:colId xmlns:a16="http://schemas.microsoft.com/office/drawing/2014/main" val="590189782"/>
                        </a:ext>
                      </a:extLst>
                    </a:gridCol>
                    <a:gridCol w="4232491">
                      <a:extLst>
                        <a:ext uri="{9D8B030D-6E8A-4147-A177-3AD203B41FA5}">
                          <a16:colId xmlns:a16="http://schemas.microsoft.com/office/drawing/2014/main" val="1542643688"/>
                        </a:ext>
                      </a:extLst>
                    </a:gridCol>
                    <a:gridCol w="3292429">
                      <a:extLst>
                        <a:ext uri="{9D8B030D-6E8A-4147-A177-3AD203B41FA5}">
                          <a16:colId xmlns:a16="http://schemas.microsoft.com/office/drawing/2014/main" val="578781599"/>
                        </a:ext>
                      </a:extLst>
                    </a:gridCol>
                  </a:tblGrid>
                  <a:tr h="36315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Variable Name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Type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Description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Unit/Category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3817206331"/>
                      </a:ext>
                    </a:extLst>
                  </a:tr>
                  <a:tr h="77463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Sample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Categorical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It identifies the wine sample for example (AN48, AN49, etc.)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Sample ID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552790731"/>
                      </a:ext>
                    </a:extLst>
                  </a:tr>
                  <a:tr h="77463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Replicate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Categorical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Describes the replication number to ensure consistency in measurements.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1 or 2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2270156863"/>
                      </a:ext>
                    </a:extLst>
                  </a:tr>
                  <a:tr h="77463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Treatment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Categorical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Describes the type of treatment that is applied to the sample.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Ripening stage, temperature or press method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400270754"/>
                      </a:ext>
                    </a:extLst>
                  </a:tr>
                  <a:tr h="159759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Wavenumbers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Numerical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>
                              <a:effectLst/>
                              <a:latin typeface="Gill Sans MT" panose="020B0502020104020203" pitchFamily="34" charset="0"/>
                            </a:rPr>
                            <a:t>Describes the wavenumbers at which the absorbance was measured, represents the frequency of light that interacts with the wine samples. </a:t>
                          </a:r>
                          <a:endParaRPr lang="en-ZA" sz="180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4195" marR="34195" marT="0" marB="0">
                        <a:blipFill>
                          <a:blip r:embed="rId2"/>
                          <a:stretch>
                            <a:fillRect l="-243333" t="-168702" r="-741" b="-835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490674"/>
                      </a:ext>
                    </a:extLst>
                  </a:tr>
                  <a:tr h="118611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Absorbance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Numerical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Describes the absorbance value that was recorded for each sample, indicating the amount of light absorbed. 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120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1800" dirty="0">
                              <a:effectLst/>
                              <a:latin typeface="Gill Sans MT" panose="020B0502020104020203" pitchFamily="34" charset="0"/>
                            </a:rPr>
                            <a:t>Absorbance (AU)</a:t>
                          </a:r>
                          <a:endParaRPr lang="en-ZA" sz="1800" dirty="0">
                            <a:effectLst/>
                            <a:latin typeface="Gill Sans MT" panose="020B0502020104020203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34195" marR="34195" marT="0" marB="0"/>
                    </a:tc>
                    <a:extLst>
                      <a:ext uri="{0D108BD9-81ED-4DB2-BD59-A6C34878D82A}">
                        <a16:rowId xmlns:a16="http://schemas.microsoft.com/office/drawing/2014/main" val="26915181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E854-5B80-BD4B-287E-88FB92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5DDC-2116-9A15-5098-533682B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71611-46FB-3065-F65B-7390A745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C92BA-7920-59B4-2FA7-0654E03A1310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925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F58C-FE47-0434-7473-1E63CA79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71121"/>
            <a:ext cx="10761344" cy="6908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sz="2800" dirty="0">
                <a:latin typeface="Gill Sans MT" panose="020B0502020104020203" pitchFamily="34" charset="0"/>
              </a:rPr>
              <a:t>Results &amp; Discussion</a:t>
            </a:r>
            <a:endParaRPr lang="en-US" sz="2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FAA359-9CBA-3368-EB11-E8984B75C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609599"/>
            <a:ext cx="12080240" cy="6177279"/>
          </a:xfrm>
        </p:spPr>
        <p:txBody>
          <a:bodyPr>
            <a:noAutofit/>
          </a:bodyPr>
          <a:lstStyle/>
          <a:p>
            <a:pPr marL="0" indent="0" algn="just">
              <a:lnSpc>
                <a:spcPct val="200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Analysis of variance (ANOVA)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Is there a significant difference in absorbance between the treatments?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ANOVA Results: F-value: 49.42</a:t>
            </a: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 and 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p-value: &lt; 2 × 10⁻¹⁶.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Conclusion: The results indicate that there is a statistically significant difference between treatments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A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t least one treatment has an effect on absorbance.</a:t>
            </a:r>
          </a:p>
          <a:p>
            <a:pPr marL="0" indent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TUKEY HONESTLY SIGNIFICANTLY DIFFERENT (HSD)</a:t>
            </a:r>
            <a:endParaRPr lang="en-ZA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Where is this significant difference between treatments?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Ripening stage </a:t>
            </a:r>
            <a:r>
              <a:rPr lang="en-US" sz="1800">
                <a:latin typeface="Gill Sans MT" panose="020B0502020104020203" pitchFamily="34" charset="0"/>
                <a:ea typeface="Calibri" panose="020F0502020204030204" pitchFamily="34" charset="0"/>
              </a:rPr>
              <a:t>2 5ºB shows 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higher absorbance compared to 18ºB and 22ºB</a:t>
            </a: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Ripening stage 22</a:t>
            </a: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ºB 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has a higher absorbance than 18</a:t>
            </a: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ºB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Temperature (both 4ºC and Ambient) leads to higher absorbance than Ripening stage 18ºB.</a:t>
            </a:r>
            <a:endParaRPr lang="en-US" sz="1800" dirty="0"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algn="just"/>
            <a:r>
              <a:rPr lang="en-US" sz="1800" dirty="0">
                <a:latin typeface="Gill Sans MT" panose="020B0502020104020203" pitchFamily="34" charset="0"/>
                <a:cs typeface="Times New Roman" panose="02020603050405020304" pitchFamily="18" charset="0"/>
              </a:rPr>
              <a:t>No significant differences between Bag press: Crushed and Bag press: Whole (p-adj &gt; 0.93).</a:t>
            </a:r>
            <a:endParaRPr lang="en-ZA" sz="1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5E854-5B80-BD4B-287E-88FB92B5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C5DDC-2116-9A15-5098-533682B8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71611-46FB-3065-F65B-7390A745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C92BA-7920-59B4-2FA7-0654E03A1310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4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graph of a number of pink squares&#10;&#10;Description automatically generated">
            <a:extLst>
              <a:ext uri="{FF2B5EF4-FFF2-40B4-BE49-F238E27FC236}">
                <a16:creationId xmlns:a16="http://schemas.microsoft.com/office/drawing/2014/main" id="{8FD1683B-CB5A-84A2-04B1-C857AB4E4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72" y="0"/>
            <a:ext cx="10080170" cy="530453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87601" y="5348231"/>
            <a:ext cx="7268856" cy="900170"/>
          </a:xfrm>
        </p:spPr>
        <p:txBody>
          <a:bodyPr/>
          <a:lstStyle/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Figure 1: Showcases the comparison of different ripening stages namely: Ripening stage: 18ºB, Ripening stage: 22ºB, Ripening stage: 25ºB against the mean absorbances.</a:t>
            </a:r>
            <a:endParaRPr lang="en-ZA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endParaRPr lang="en-ZA" dirty="0"/>
          </a:p>
          <a:p>
            <a:endParaRPr lang="en-ZA" dirty="0"/>
          </a:p>
          <a:p>
            <a:r>
              <a:rPr lang="en-ZA" dirty="0"/>
              <a:t>Department of Mathematics &amp; Physics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879" y="751325"/>
            <a:ext cx="808522" cy="551226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1647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CDB792-3B01-F96F-A87E-AE1E78DD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bag press&#10;&#10;Description automatically generated">
            <a:extLst>
              <a:ext uri="{FF2B5EF4-FFF2-40B4-BE49-F238E27FC236}">
                <a16:creationId xmlns:a16="http://schemas.microsoft.com/office/drawing/2014/main" id="{7880C9B9-EB8F-1F6E-20F8-FFE11566D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29" y="1"/>
            <a:ext cx="10191346" cy="57912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40949-FE40-C13B-4E84-3B08AECB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92082-611F-0258-2410-D07F8DA1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03120" y="5628641"/>
            <a:ext cx="7553337" cy="762000"/>
          </a:xfrm>
        </p:spPr>
        <p:txBody>
          <a:bodyPr/>
          <a:lstStyle/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Figure 2: Showcases the comparison of different pressing methods Bag press: Crushed and Bag press: Whole against the mean absorbances.</a:t>
            </a:r>
          </a:p>
          <a:p>
            <a:endParaRPr lang="en-ZA" dirty="0"/>
          </a:p>
          <a:p>
            <a:r>
              <a:rPr lang="en-ZA" dirty="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905AF-A6C6-EB5D-B8D6-E81409B1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79" y="751325"/>
            <a:ext cx="808522" cy="551226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3125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1419F2-6D52-9C94-6865-D05FA075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temperature&#10;&#10;Description automatically generated">
            <a:extLst>
              <a:ext uri="{FF2B5EF4-FFF2-40B4-BE49-F238E27FC236}">
                <a16:creationId xmlns:a16="http://schemas.microsoft.com/office/drawing/2014/main" id="{B4E0C493-5619-3358-39A8-C23E98556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886" y="0"/>
            <a:ext cx="9610188" cy="549728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B3229-925A-AABC-C6BA-22241135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F7E0B-9931-EA8F-788A-6744C557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23440" y="5628641"/>
            <a:ext cx="7533017" cy="619759"/>
          </a:xfrm>
        </p:spPr>
        <p:txBody>
          <a:bodyPr/>
          <a:lstStyle/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Figure 3: Showcases the comparison between Temperature at 4ºC and Temp Ambient against the mean absorbances.</a:t>
            </a:r>
            <a:endParaRPr lang="en-ZA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endParaRPr lang="en-ZA" dirty="0"/>
          </a:p>
          <a:p>
            <a:r>
              <a:rPr lang="en-ZA" dirty="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1F34F-8A22-7F7C-AD58-5DC6B266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79" y="751325"/>
            <a:ext cx="808522" cy="551226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10253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03B15E-D6E2-BF78-5174-6D60309E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AB20-6B49-2479-387E-125EA0A6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3BA0A-5244-2F6A-3D80-2AB1CDE9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23440" y="5628641"/>
            <a:ext cx="7533017" cy="619759"/>
          </a:xfrm>
        </p:spPr>
        <p:txBody>
          <a:bodyPr/>
          <a:lstStyle/>
          <a:p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Figure</a:t>
            </a: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 4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: Showcases the spectra of  Wine Samples Highlighting the peaks </a:t>
            </a:r>
            <a:endParaRPr lang="en-ZA" dirty="0"/>
          </a:p>
          <a:p>
            <a:r>
              <a:rPr lang="en-ZA" dirty="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913A5-89B9-DF57-DBB9-F6181A88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79" y="751325"/>
            <a:ext cx="808522" cy="551226"/>
          </a:xfrm>
        </p:spPr>
        <p:txBody>
          <a:bodyPr/>
          <a:lstStyle/>
          <a:p>
            <a:fld id="{FCDC5D13-0321-4383-81EA-F2073319DF27}" type="slidenum">
              <a:rPr lang="en-ZA" smtClean="0"/>
              <a:pPr/>
              <a:t>9</a:t>
            </a:fld>
            <a:endParaRPr lang="en-ZA" dirty="0"/>
          </a:p>
        </p:txBody>
      </p:sp>
      <p:pic>
        <p:nvPicPr>
          <p:cNvPr id="8" name="Content Placeholder 7" descr="A graph showing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59CF8015-D84E-54CF-5097-FE9DEDA64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44603"/>
            <a:ext cx="11236960" cy="5390997"/>
          </a:xfrm>
        </p:spPr>
      </p:pic>
    </p:spTree>
    <p:extLst>
      <p:ext uri="{BB962C8B-B14F-4D97-AF65-F5344CB8AC3E}">
        <p14:creationId xmlns:p14="http://schemas.microsoft.com/office/powerpoint/2010/main" val="297129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33C07-B1DB-088C-3557-0F3BF03A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61E1-551E-0546-7B83-C77D04DC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71121"/>
            <a:ext cx="10761344" cy="6908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sz="2800" dirty="0">
                <a:latin typeface="Gill Sans MT" panose="020B0502020104020203" pitchFamily="34" charset="0"/>
              </a:rPr>
              <a:t>Discussion</a:t>
            </a:r>
            <a:endParaRPr lang="en-US" sz="2800" dirty="0">
              <a:latin typeface="Gill Sans MT" panose="020B0502020104020203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5805AB2-06CD-7BC8-4B02-E2B511238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60" y="609599"/>
                <a:ext cx="12080240" cy="6177279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:r>
                  <a:rPr lang="en-US" sz="1800" dirty="0">
                    <a:latin typeface="Gill Sans MT" panose="020B0502020104020203" pitchFamily="34" charset="0"/>
                    <a:ea typeface="Calibri" panose="020F0502020204030204" pitchFamily="34" charset="0"/>
                  </a:rPr>
                  <a:t>Graph highlights the absorbance at different wavenumbers </a:t>
                </a:r>
              </a:p>
              <a:p>
                <a:pPr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:r>
                  <a:rPr lang="en-US" sz="1800" dirty="0">
                    <a:latin typeface="Gill Sans MT" panose="020B0502020104020203" pitchFamily="34" charset="0"/>
                    <a:ea typeface="Calibri" panose="020F0502020204030204" pitchFamily="34" charset="0"/>
                  </a:rPr>
                  <a:t>The prominent peaks are found at:</a:t>
                </a:r>
              </a:p>
              <a:p>
                <a:pPr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Gill Sans MT" panose="020B0502020104020203" pitchFamily="34" charset="0"/>
                    <a:ea typeface="Calibri" panose="020F0502020204030204" pitchFamily="34" charset="0"/>
                  </a:rPr>
                  <a:t>1500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sz="1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latin typeface="Gill Sans MT" panose="020B0502020104020203" pitchFamily="34" charset="0"/>
                    <a:ea typeface="Calibri" panose="020F0502020204030204" pitchFamily="34" charset="0"/>
                  </a:rPr>
                  <a:t> </a:t>
                </a:r>
              </a:p>
              <a:p>
                <a:pPr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Gill Sans MT" panose="020B0502020104020203" pitchFamily="34" charset="0"/>
                    <a:ea typeface="Calibri" panose="020F0502020204030204" pitchFamily="34" charset="0"/>
                  </a:rPr>
                  <a:t>3000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sz="1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effectLst/>
                    <a:latin typeface="Gill Sans MT" panose="020B0502020104020203" pitchFamily="34" charset="0"/>
                    <a:ea typeface="Calibri" panose="020F0502020204030204" pitchFamily="34" charset="0"/>
                  </a:rPr>
                  <a:t> to 3500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ZA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</a:pPr>
                <a:r>
                  <a:rPr lang="en-US" sz="1800" dirty="0">
                    <a:latin typeface="Gill Sans MT" panose="020B0502020104020203" pitchFamily="34" charset="0"/>
                    <a:ea typeface="Calibri" panose="020F0502020204030204" pitchFamily="34" charset="0"/>
                  </a:rPr>
                  <a:t>Peaks may indicate higher pinking susceptibility. </a:t>
                </a:r>
                <a:endParaRPr lang="en-US" sz="1800" dirty="0">
                  <a:effectLst/>
                  <a:latin typeface="Gill Sans MT" panose="020B0502020104020203" pitchFamily="34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5805AB2-06CD-7BC8-4B02-E2B511238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60" y="609599"/>
                <a:ext cx="12080240" cy="6177279"/>
              </a:xfrm>
              <a:blipFill>
                <a:blip r:embed="rId2"/>
                <a:stretch>
                  <a:fillRect l="-303" t="-49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9B8AF-83E3-436E-2B27-79B253B74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 smtClean="0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705F1-593D-E047-4D02-902F3C8F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6BF3-0AE2-8595-51D7-00FB5306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CDC5D13-0321-4383-81EA-F2073319DF27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FEB89-7F19-6713-1583-C50F34E397F9}"/>
              </a:ext>
            </a:extLst>
          </p:cNvPr>
          <p:cNvSpPr txBox="1"/>
          <p:nvPr/>
        </p:nvSpPr>
        <p:spPr>
          <a:xfrm>
            <a:off x="145157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120000"/>
              </a:lnSpc>
              <a:spcAft>
                <a:spcPts val="800"/>
              </a:spcAft>
              <a:buClr>
                <a:schemeClr val="accent1"/>
              </a:buClr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648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561" y="-619760"/>
            <a:ext cx="10324464" cy="3058159"/>
          </a:xfrm>
        </p:spPr>
        <p:txBody>
          <a:bodyPr/>
          <a:lstStyle/>
          <a:p>
            <a:r>
              <a:rPr lang="en-ZA" dirty="0">
                <a:latin typeface="Gill Sans MT" panose="020B0502020104020203" pitchFamily="34" charset="0"/>
              </a:rP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3040"/>
            <a:ext cx="11503023" cy="4328161"/>
          </a:xfrm>
        </p:spPr>
        <p:txBody>
          <a:bodyPr>
            <a:norm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This study examined the effect of different treatments on pinking susceptibility in wine and assessed the effectiveness of  WineScan for detecting it.	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Treatments included: temperature conditions (4°C vs. ambient), ripening stages (18°B, 22°B, and 25°B), and press methods.	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Temperature and Press Method: Minimal effect on pinking.	</a:t>
            </a:r>
            <a:endParaRPr lang="en-US" sz="1800" dirty="0"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Ripening Stage: Grapes at 25°B have higher pinking susceptibility than 18°B and 22°B stages.		</a:t>
            </a:r>
          </a:p>
          <a:p>
            <a:pPr algn="l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Recommendation: To minimize pinking, winemakers should use less mature grapes (18°B and 22°B) and whole bunch grapes at ambient temperatures.	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Final conclusion: Ripening stage </a:t>
            </a: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was</a:t>
            </a:r>
            <a:r>
              <a:rPr lang="en-US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the main factor influencing pinking in this study. 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endParaRPr lang="en-US" sz="19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endParaRPr lang="en-ZA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94A7-1302-450B-95EB-FFC37E100C94}" type="datetime3">
              <a:rPr lang="en-ZA" smtClean="0"/>
              <a:t>20 August 2026</a:t>
            </a:fld>
            <a:endParaRPr lang="en-Z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  <a:p>
            <a:r>
              <a:rPr lang="en-ZA"/>
              <a:t>Department of Mathematics &amp; Physics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C5D13-0321-4383-81EA-F2073319DF27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15032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6013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ZA" sz="3200" dirty="0">
                <a:solidFill>
                  <a:schemeClr val="tx2"/>
                </a:solidFill>
                <a:latin typeface="Gill Sans MT" panose="020B0502020104020203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833" y="539211"/>
            <a:ext cx="6459406" cy="4522647"/>
          </a:xfrm>
        </p:spPr>
        <p:txBody>
          <a:bodyPr anchor="ctr">
            <a:normAutofit fontScale="32500" lnSpcReduction="20000"/>
          </a:bodyPr>
          <a:lstStyle/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endParaRPr lang="en-US" sz="40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endParaRPr lang="en-US" sz="4000" dirty="0"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Andrea-Silva, J., Cosme, F., Ribeiro, L.F., Moreira, A.S.P.,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Malheiro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A.C., Coimbra, M.A., Domingues, M.R.M. &amp; Nunes, F.M., 2014. Origin of the pinking phenomenon of white wines. J. Agric. Food Chem. 62, 5651-5659.</a:t>
            </a: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Arapitsas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P., Oliveira, J.,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Mattivi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F., 2015. Do white grapes really exist? Food Research International, 69, 21–25.</a:t>
            </a: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Bauer, R.,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Nieuwoudt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H., Bauer, F.F.,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Kossmann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J., Koch, K.R. and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Esbensen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K.H., 2008. FTIR spectroscopy for grape and wine analysis. American Chemical Society. 1371-1379</a:t>
            </a: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Bilko, M., Babych, I.,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Naumenko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O.,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Ischenko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M., Bilko, M.,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Gunko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S., Babich, I.,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Naumenko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O.,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Mukoid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R.,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Ischenko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M.,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Doboniy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I.,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Danylenko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S.,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Bovkun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A., &amp;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Stotska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O., 2022. Investigation of the appearance and elimination of pinking coloration in white wines. Eastern-European Journal of Enterprise Technologies.1 (11 (115)): 56–62. </a:t>
            </a: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Budziak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-Wieczorek, I.,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Mašán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V.,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Rzad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K.,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Gładyszewska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B.,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Karcz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D., Burg, P.,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Cížková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A., ˇGago´s, M. &amp; </a:t>
            </a:r>
            <a:r>
              <a:rPr lang="en-US" sz="49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Matwijczuk</a:t>
            </a:r>
            <a:r>
              <a:rPr lang="en-US" sz="49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A., 2022.  Evaluation of the Quality of Selected White and Red Wines Produced from Moravia Region of Czech Republic Using Physicochemical Analysis, FTIR Infrared Spectroscopy and Chemometric Techniques. Molecules. 28(6326): 1-15. </a:t>
            </a:r>
          </a:p>
          <a:p>
            <a:pPr marL="0" indent="0" algn="just">
              <a:lnSpc>
                <a:spcPct val="200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lang="en-ZA" sz="37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ZA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18350" y="5883275"/>
            <a:ext cx="440889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81072" y="5867131"/>
            <a:ext cx="55116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spcAft>
                  <a:spcPts val="600"/>
                </a:spcAft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140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8F5F3-C4C1-F420-DAE8-0909D920C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69921-D4D4-F795-84AC-32D143AD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085" y="1267503"/>
            <a:ext cx="6960241" cy="5209498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Cojocaru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G. A., </a:t>
            </a: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Antoce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A. O. , 2019. Effect of certain treatments to prevent or partially reverse the pinking phenomenon in susceptible white wines. BIO Web of Conferences, 15, 02003.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Cosme, F., Andrea-Silva, J., Filipe-Ribeiro, L., Moreira, A. S. P., </a:t>
            </a: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Malheiro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A. C., Coimbra, M. A. &amp; Nunes, F. M., 2019. The origin of pinking phenomenon in white wines: An update. BIO Web Conference.12: 2013. 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1146175" algn="l"/>
              </a:tabLst>
            </a:pP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Dalgaard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P., 2008. Introductory Statistics with R. 2nd ed. New York: Springer.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Jones, T., 1989. Pinking of white table wines: Further studies. Unpublished Master of Science thesis, University of California, Davis, CA, USA. </a:t>
            </a:r>
          </a:p>
          <a:p>
            <a:pPr marL="0" indent="0">
              <a:lnSpc>
                <a:spcPct val="90000"/>
              </a:lnSpc>
              <a:spcAft>
                <a:spcPts val="600"/>
              </a:spcAft>
              <a:buNone/>
              <a:tabLst>
                <a:tab pos="1146175" algn="l"/>
              </a:tabLst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 </a:t>
            </a: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Jones, T., 1989. Pinking of white table wines: Further studies. Unpublished Master of Science thesis, University of California, Davis, CA, USA. </a:t>
            </a:r>
          </a:p>
          <a:p>
            <a:pPr marL="0" indent="0" algn="l">
              <a:lnSpc>
                <a:spcPct val="200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lang="en-ZA" sz="1600" dirty="0">
              <a:effectLst/>
              <a:latin typeface="Gill Sans MT" panose="020B0502020104020203" pitchFamily="34" charset="0"/>
              <a:ea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EBEC1-65DC-C230-6D45-ED0B313A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76B76-E5D2-274C-A8D8-C6B4CA01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8350" y="5883275"/>
            <a:ext cx="440889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726F0-CE41-BFE4-7841-FC022CDE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72" y="5867131"/>
            <a:ext cx="55116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spcAft>
                  <a:spcPts val="600"/>
                </a:spcAft>
              </a:pPr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3884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82060-C78D-6547-AD03-E699E747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D039D-0EBA-FDC4-B966-47FCFC171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Lamuela-Raventós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R.M., </a:t>
            </a: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Huix-Blanquera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M. &amp; Waterhouse, A.L., 2001. Treatments for pinking alteration in white wines. Am. J. Enol. </a:t>
            </a: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Vitic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. 52(2), 156-158.</a:t>
            </a:r>
          </a:p>
          <a:p>
            <a:pPr marL="0" indent="0">
              <a:lnSpc>
                <a:spcPct val="90000"/>
              </a:lnSpc>
              <a:buNone/>
              <a:tabLst>
                <a:tab pos="1146175" algn="l"/>
              </a:tabLst>
            </a:pPr>
            <a:r>
              <a:rPr lang="en-US" sz="1600" dirty="0" err="1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Luthfi</a:t>
            </a:r>
            <a:r>
              <a:rPr lang="en-US" sz="1600" dirty="0">
                <a:effectLst/>
                <a:latin typeface="Gill Sans MT" panose="020B0502020104020203" pitchFamily="34" charset="0"/>
                <a:ea typeface="Calibri" panose="020F0502020204030204" pitchFamily="34" charset="0"/>
              </a:rPr>
              <a:t>, M.A. &amp; Susanto, A., 2024. Classification of Red Wine Beverage Quality Using a Support Vector Machine Algorithm Based on Forward Selection as Feature Selection.  International Journal of Engineering Computing Advanced Research. 1(1): 22-23.10.3390/molecules28176326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Minute, F., Giotto, F., Filipe-Ribeiro, L., Cosme, F., &amp; Nunes, F. M., 2022.  Is pinking susceptibility index a good predictor of white wines pinking phenomena? Foods. 10(3), 5531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Minute, F., Giotto, F., Filipe-Ribeiro, L., Cosme, F., &amp; Nunes, F.M., 2021. Alternative Methods for Measuring the Susceptibility of White Wines to Pinking Alteration: Derivative Spectroscopy and CIEL*a*b* </a:t>
            </a:r>
            <a:r>
              <a:rPr lang="en-ZA" sz="1600" dirty="0" err="1">
                <a:latin typeface="Gill Sans MT" panose="020B0502020104020203" pitchFamily="34" charset="0"/>
              </a:rPr>
              <a:t>Color</a:t>
            </a:r>
            <a:r>
              <a:rPr lang="en-ZA" sz="1600" dirty="0">
                <a:latin typeface="Gill Sans MT" panose="020B0502020104020203" pitchFamily="34" charset="0"/>
              </a:rPr>
              <a:t> Analysis. Foods. 10(553): 1-15. </a:t>
            </a:r>
          </a:p>
          <a:p>
            <a:pPr>
              <a:lnSpc>
                <a:spcPct val="90000"/>
              </a:lnSpc>
            </a:pPr>
            <a:endParaRPr lang="en-ZA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7AAD-8775-07E2-7F99-BFCDEBCC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88636-6F1B-E702-EE8E-58C3DA0A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8350" y="5883275"/>
            <a:ext cx="440889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61AC8-6EE7-6188-CCA1-C1772889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72" y="5867131"/>
            <a:ext cx="55116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spcAft>
                  <a:spcPts val="600"/>
                </a:spcAft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053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523FF-6461-0ABB-8B16-215CE466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5114B-099A-7E3D-4059-8E0B5F4AE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Nanda, A., Mohapatra, D. B. B., Mahapatra, A. P. K., Mahapatra, A. P. K., &amp; Mahapatra, A. P. K., 2021. Multiple comparison test by Tukey's honestly significant difference (HSD): Do the confident level control type I error. International Journal of Statistics and Applied Mathematics, 6, 59– 65.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Nel, A.P., 2021. Pinking of wine – influence of different winemaking processes, causative agents and pinking treatments. Unpublished PhD thesis. Stellenbosch University.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Nel, A.P, du Toit, W. &amp; van Jaarsveld, F.P., 2020. Pinking in White Wines -A Review. South African Journal of </a:t>
            </a:r>
            <a:r>
              <a:rPr lang="en-ZA" sz="1600" dirty="0" err="1">
                <a:latin typeface="Gill Sans MT" panose="020B0502020104020203" pitchFamily="34" charset="0"/>
              </a:rPr>
              <a:t>Enology</a:t>
            </a:r>
            <a:r>
              <a:rPr lang="en-ZA" sz="1600" dirty="0">
                <a:latin typeface="Gill Sans MT" panose="020B0502020104020203" pitchFamily="34" charset="0"/>
              </a:rPr>
              <a:t> and Viticulture. 41(2):151-156.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 err="1">
                <a:latin typeface="Gill Sans MT" panose="020B0502020104020203" pitchFamily="34" charset="0"/>
              </a:rPr>
              <a:t>Ranaweera</a:t>
            </a:r>
            <a:r>
              <a:rPr lang="en-ZA" sz="1600" dirty="0">
                <a:latin typeface="Gill Sans MT" panose="020B0502020104020203" pitchFamily="34" charset="0"/>
              </a:rPr>
              <a:t>, R.K.R., Capone, D.L., Bastian, S.E.P., Cozzolino, D. &amp; Jeffery, D.W., 2021. A Review of Wine Authentication Using Spectroscopic Approaches in Combination with Chemometrics. Molecules. 26(4334): 1-15.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 err="1">
                <a:latin typeface="Gill Sans MT" panose="020B0502020104020203" pitchFamily="34" charset="0"/>
              </a:rPr>
              <a:t>Rouxinol</a:t>
            </a:r>
            <a:r>
              <a:rPr lang="en-ZA" sz="1600" dirty="0">
                <a:latin typeface="Gill Sans MT" panose="020B0502020104020203" pitchFamily="34" charset="0"/>
              </a:rPr>
              <a:t>, M.I., Martins, M.R., </a:t>
            </a:r>
            <a:r>
              <a:rPr lang="en-ZA" sz="1600" dirty="0" err="1">
                <a:latin typeface="Gill Sans MT" panose="020B0502020104020203" pitchFamily="34" charset="0"/>
              </a:rPr>
              <a:t>Murta</a:t>
            </a:r>
            <a:r>
              <a:rPr lang="en-ZA" sz="1600" dirty="0">
                <a:latin typeface="Gill Sans MT" panose="020B0502020104020203" pitchFamily="34" charset="0"/>
              </a:rPr>
              <a:t>, G.C., Mota Barroso J., &amp; </a:t>
            </a:r>
            <a:r>
              <a:rPr lang="en-ZA" sz="1600" dirty="0" err="1">
                <a:latin typeface="Gill Sans MT" panose="020B0502020104020203" pitchFamily="34" charset="0"/>
              </a:rPr>
              <a:t>Rato</a:t>
            </a:r>
            <a:r>
              <a:rPr lang="en-ZA" sz="1600" dirty="0">
                <a:latin typeface="Gill Sans MT" panose="020B0502020104020203" pitchFamily="34" charset="0"/>
              </a:rPr>
              <a:t>, A.E., 2022. Quality Assessment of Red Wine Grapes through NIR Spectroscopy. Agronomy. 12(637): 1-16.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Simpson, R.F., 1977a. Oxidative pinking in white wines. Vitis 16, 286-294. </a:t>
            </a:r>
          </a:p>
          <a:p>
            <a:pPr>
              <a:lnSpc>
                <a:spcPct val="90000"/>
              </a:lnSpc>
            </a:pPr>
            <a:endParaRPr lang="en-ZA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E55FE-FBB5-93C8-B073-F4D6BD585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CBF36-4EB7-AD01-4584-FBFB1997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8350" y="5883275"/>
            <a:ext cx="440889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6E926-60B7-995A-F879-B690023A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72" y="5867131"/>
            <a:ext cx="55116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spcAft>
                  <a:spcPts val="600"/>
                </a:spcAft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9675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1D350-C863-38C0-E2C6-6C76CA62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1F593-ED85-797B-AE23-F7C3BDDAF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72" y="609601"/>
            <a:ext cx="6481268" cy="498565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Simpson, R.F., Miller, G.C. &amp; Orr, G.L., 1982. Oxidative pinking of white wines: Recent observations. Food Tech. </a:t>
            </a:r>
            <a:r>
              <a:rPr lang="en-ZA" sz="1600" dirty="0" err="1">
                <a:latin typeface="Gill Sans MT" panose="020B0502020104020203" pitchFamily="34" charset="0"/>
              </a:rPr>
              <a:t>Austr</a:t>
            </a:r>
            <a:r>
              <a:rPr lang="en-ZA" sz="1600" dirty="0">
                <a:latin typeface="Gill Sans MT" panose="020B0502020104020203" pitchFamily="34" charset="0"/>
              </a:rPr>
              <a:t>. 34(1), 44-47.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 err="1">
                <a:latin typeface="Gill Sans MT" panose="020B0502020104020203" pitchFamily="34" charset="0"/>
              </a:rPr>
              <a:t>Tobe</a:t>
            </a:r>
            <a:r>
              <a:rPr lang="en-ZA" sz="1600" dirty="0">
                <a:latin typeface="Gill Sans MT" panose="020B0502020104020203" pitchFamily="34" charset="0"/>
              </a:rPr>
              <a:t>, S.J., 1983. Pinking in table wines from white grapes. Unpublished MSc thesis, University of California, Davis, USA.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Tukey, J. W., 1991. The Philosophy of Multiple Comparisons. Statistical Science, 6(1), 100-116.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1600" dirty="0">
                <a:latin typeface="Gill Sans MT" panose="020B0502020104020203" pitchFamily="34" charset="0"/>
              </a:rPr>
              <a:t>Viejo, C.G. &amp; Fuentes, S., 2023. Digital Assessment and Classification of Wine Faults Using a Low-Cost Electronic Nose, Near-Infrared Spectroscopy and Machine Learning Modelling. Sensors. 22(2303): 1-16.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A35B9-1D2D-9887-73AC-3B1794D1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D394A7-1302-450B-95EB-FFC37E100C94}" type="datetime3">
              <a:rPr lang="en-ZA"/>
              <a:pPr>
                <a:spcAft>
                  <a:spcPts val="600"/>
                </a:spcAft>
              </a:pPr>
              <a:t>20 August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45EB3-E295-A04E-5B1D-E754724B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18350" y="5883275"/>
            <a:ext cx="440889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ZA" sz="70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ZA" sz="700"/>
              <a:t>Department of Mathematics &amp; Physics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FB72C-6A29-E0DD-28EC-944C3F26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1072" y="5867131"/>
            <a:ext cx="55116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DC5D13-0321-4383-81EA-F2073319DF27}" type="slidenum">
              <a:rPr lang="en-ZA" smtClean="0"/>
              <a:pPr>
                <a:spcAft>
                  <a:spcPts val="600"/>
                </a:spcAft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202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f9c8ac-b8b4-4c0e-93f8-2c1007ea5f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3033505C532A418140209914D718E2" ma:contentTypeVersion="15" ma:contentTypeDescription="Create a new document." ma:contentTypeScope="" ma:versionID="087b648b5a0ccb45c0d1b2b7044113dc">
  <xsd:schema xmlns:xsd="http://www.w3.org/2001/XMLSchema" xmlns:xs="http://www.w3.org/2001/XMLSchema" xmlns:p="http://schemas.microsoft.com/office/2006/metadata/properties" xmlns:ns3="caf9c8ac-b8b4-4c0e-93f8-2c1007ea5ffc" xmlns:ns4="893186d4-3036-4c3a-994a-f88cf3e9a444" targetNamespace="http://schemas.microsoft.com/office/2006/metadata/properties" ma:root="true" ma:fieldsID="543b2a6870baed8ef16280d521a0486e" ns3:_="" ns4:_="">
    <xsd:import namespace="caf9c8ac-b8b4-4c0e-93f8-2c1007ea5ffc"/>
    <xsd:import namespace="893186d4-3036-4c3a-994a-f88cf3e9a44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f9c8ac-b8b4-4c0e-93f8-2c1007ea5f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3186d4-3036-4c3a-994a-f88cf3e9a44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48519E-9784-4717-9ED6-7F2EBEB3AED6}">
  <ds:schemaRefs>
    <ds:schemaRef ds:uri="http://purl.org/dc/dcmitype/"/>
    <ds:schemaRef ds:uri="893186d4-3036-4c3a-994a-f88cf3e9a444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caf9c8ac-b8b4-4c0e-93f8-2c1007ea5ffc"/>
    <ds:schemaRef ds:uri="http://purl.org/dc/terms/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073C4CE-0CCE-4344-8427-48EC465A91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99FBAF-9D97-4C92-9287-7F1677C7D3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f9c8ac-b8b4-4c0e-93f8-2c1007ea5ffc"/>
    <ds:schemaRef ds:uri="893186d4-3036-4c3a-994a-f88cf3e9a4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</TotalTime>
  <Words>1830</Words>
  <Application>Microsoft Office PowerPoint</Application>
  <PresentationFormat>Widescreen</PresentationFormat>
  <Paragraphs>178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Gill Sans MT</vt:lpstr>
      <vt:lpstr>Times New Roman</vt:lpstr>
      <vt:lpstr>Office Theme</vt:lpstr>
      <vt:lpstr> INVESTIGATING WINESCAN AS A TOOL FOR IDENTIFYING PINKING IN WINE: A STUDY OF TREATMENTS AND THEIR EFFECTS </vt:lpstr>
      <vt:lpstr>INTRODUCTION</vt:lpstr>
      <vt:lpstr>OBJECTIVES</vt:lpstr>
      <vt:lpstr>METHODOLOGY  Table 1:  Outline of dataset   </vt:lpstr>
      <vt:lpstr>Results &amp; Discussion</vt:lpstr>
      <vt:lpstr>PowerPoint Presentation</vt:lpstr>
      <vt:lpstr>PowerPoint Presentation</vt:lpstr>
      <vt:lpstr>PowerPoint Presentation</vt:lpstr>
      <vt:lpstr>PowerPoint Presentation</vt:lpstr>
      <vt:lpstr>Discussion</vt:lpstr>
      <vt:lpstr>Conclusion &amp; Recommendations</vt:lpstr>
      <vt:lpstr>REFERENCES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Nqabakazi Didoo Dyantyi</dc:creator>
  <cp:lastModifiedBy>Nqabakazi Dyantyi</cp:lastModifiedBy>
  <cp:revision>5</cp:revision>
  <dcterms:created xsi:type="dcterms:W3CDTF">2024-11-11T08:07:56Z</dcterms:created>
  <dcterms:modified xsi:type="dcterms:W3CDTF">2026-08-20T17:41:52Z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0x010100793033505C532A418140209914D718E2</vt:lpwstr>
  </property>
</Properties>
</file>